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Ultra-Bold" charset="1" panose="00000900000000000000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jpe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90000"/>
                  </a:srgbClr>
                </a:gs>
                <a:gs pos="100000">
                  <a:srgbClr val="001496">
                    <a:alpha val="9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278626" y="2205781"/>
            <a:ext cx="13730749" cy="5393168"/>
            <a:chOff x="0" y="0"/>
            <a:chExt cx="3616329" cy="14204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6329" cy="1420423"/>
            </a:xfrm>
            <a:custGeom>
              <a:avLst/>
              <a:gdLst/>
              <a:ahLst/>
              <a:cxnLst/>
              <a:rect r="r" b="b" t="t" l="l"/>
              <a:pathLst>
                <a:path h="1420423" w="3616329">
                  <a:moveTo>
                    <a:pt x="53001" y="0"/>
                  </a:moveTo>
                  <a:lnTo>
                    <a:pt x="3563328" y="0"/>
                  </a:lnTo>
                  <a:cubicBezTo>
                    <a:pt x="3577385" y="0"/>
                    <a:pt x="3590866" y="5584"/>
                    <a:pt x="3600805" y="15524"/>
                  </a:cubicBezTo>
                  <a:cubicBezTo>
                    <a:pt x="3610745" y="25463"/>
                    <a:pt x="3616329" y="38944"/>
                    <a:pt x="3616329" y="53001"/>
                  </a:cubicBezTo>
                  <a:lnTo>
                    <a:pt x="3616329" y="1367422"/>
                  </a:lnTo>
                  <a:cubicBezTo>
                    <a:pt x="3616329" y="1396694"/>
                    <a:pt x="3592600" y="1420423"/>
                    <a:pt x="3563328" y="1420423"/>
                  </a:cubicBezTo>
                  <a:lnTo>
                    <a:pt x="53001" y="1420423"/>
                  </a:lnTo>
                  <a:cubicBezTo>
                    <a:pt x="23729" y="1420423"/>
                    <a:pt x="0" y="1396694"/>
                    <a:pt x="0" y="1367422"/>
                  </a:cubicBezTo>
                  <a:lnTo>
                    <a:pt x="0" y="53001"/>
                  </a:lnTo>
                  <a:cubicBezTo>
                    <a:pt x="0" y="23729"/>
                    <a:pt x="23729" y="0"/>
                    <a:pt x="53001" y="0"/>
                  </a:cubicBezTo>
                  <a:close/>
                </a:path>
              </a:pathLst>
            </a:custGeom>
            <a:solidFill>
              <a:srgbClr val="444963">
                <a:alpha val="6588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16329" cy="1458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32445" y="3121846"/>
            <a:ext cx="9506732" cy="197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3"/>
              </a:lnSpc>
            </a:pPr>
            <a:r>
              <a:rPr lang="en-US" sz="80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ANTREAN PARKIR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16407" y="5434857"/>
            <a:ext cx="11222093" cy="113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8"/>
              </a:lnSpc>
            </a:pPr>
            <a:r>
              <a:rPr lang="en-US" sz="6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 UTS STRUKTUR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90000"/>
                  </a:srgbClr>
                </a:gs>
                <a:gs pos="100000">
                  <a:srgbClr val="001496">
                    <a:alpha val="9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2205781"/>
            <a:ext cx="16230600" cy="5905915"/>
            <a:chOff x="0" y="0"/>
            <a:chExt cx="4274726" cy="1555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1555467"/>
            </a:xfrm>
            <a:custGeom>
              <a:avLst/>
              <a:gdLst/>
              <a:ahLst/>
              <a:cxnLst/>
              <a:rect r="r" b="b" t="t" l="l"/>
              <a:pathLst>
                <a:path h="1555467" w="4274726">
                  <a:moveTo>
                    <a:pt x="44838" y="0"/>
                  </a:moveTo>
                  <a:lnTo>
                    <a:pt x="4229888" y="0"/>
                  </a:lnTo>
                  <a:cubicBezTo>
                    <a:pt x="4254652" y="0"/>
                    <a:pt x="4274726" y="20074"/>
                    <a:pt x="4274726" y="44838"/>
                  </a:cubicBezTo>
                  <a:lnTo>
                    <a:pt x="4274726" y="1510630"/>
                  </a:lnTo>
                  <a:cubicBezTo>
                    <a:pt x="4274726" y="1522522"/>
                    <a:pt x="4270002" y="1533926"/>
                    <a:pt x="4261593" y="1542335"/>
                  </a:cubicBezTo>
                  <a:cubicBezTo>
                    <a:pt x="4253185" y="1550744"/>
                    <a:pt x="4241780" y="1555467"/>
                    <a:pt x="4229888" y="1555467"/>
                  </a:cubicBezTo>
                  <a:lnTo>
                    <a:pt x="44838" y="1555467"/>
                  </a:lnTo>
                  <a:cubicBezTo>
                    <a:pt x="32946" y="1555467"/>
                    <a:pt x="21541" y="1550744"/>
                    <a:pt x="13133" y="1542335"/>
                  </a:cubicBezTo>
                  <a:cubicBezTo>
                    <a:pt x="4724" y="1533926"/>
                    <a:pt x="0" y="1522522"/>
                    <a:pt x="0" y="1510630"/>
                  </a:cubicBezTo>
                  <a:lnTo>
                    <a:pt x="0" y="44838"/>
                  </a:lnTo>
                  <a:cubicBezTo>
                    <a:pt x="0" y="32946"/>
                    <a:pt x="4724" y="21541"/>
                    <a:pt x="13133" y="13133"/>
                  </a:cubicBezTo>
                  <a:cubicBezTo>
                    <a:pt x="21541" y="4724"/>
                    <a:pt x="32946" y="0"/>
                    <a:pt x="44838" y="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159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30525" y="2907546"/>
            <a:ext cx="4626949" cy="51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393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NAMA KELOMPOK: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15797" y="4195483"/>
            <a:ext cx="13856407" cy="275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6"/>
              </a:lnSpc>
            </a:pPr>
            <a:r>
              <a:rPr lang="en-US" b="true" sz="3939" spc="4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 PUTU VIRA ARTIKA DEWI (2501010377)</a:t>
            </a:r>
          </a:p>
          <a:p>
            <a:pPr algn="ctr">
              <a:lnSpc>
                <a:spcPts val="7406"/>
              </a:lnSpc>
            </a:pPr>
            <a:r>
              <a:rPr lang="en-US" b="true" sz="3939" spc="4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ANAK AGUNG RADHA NOVIANTI (2501010378)</a:t>
            </a:r>
          </a:p>
          <a:p>
            <a:pPr algn="ctr">
              <a:lnSpc>
                <a:spcPts val="7406"/>
              </a:lnSpc>
            </a:pPr>
            <a:r>
              <a:rPr lang="en-US" b="true" sz="3939" spc="4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 MADE NIA PARAMITA (2501010376)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4512" y="2520315"/>
            <a:ext cx="5961378" cy="6318882"/>
            <a:chOff x="0" y="0"/>
            <a:chExt cx="923573" cy="97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5"/>
              <a:stretch>
                <a:fillRect l="-29547" t="0" r="-2954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21316" y="2793540"/>
            <a:ext cx="7879312" cy="252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92300" y="5581572"/>
            <a:ext cx="8356326" cy="2761774"/>
            <a:chOff x="0" y="0"/>
            <a:chExt cx="2200783" cy="727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0783" cy="727456"/>
            </a:xfrm>
            <a:custGeom>
              <a:avLst/>
              <a:gdLst/>
              <a:ahLst/>
              <a:cxnLst/>
              <a:rect r="r" b="b" t="t" l="l"/>
              <a:pathLst>
                <a:path h="727456" w="2200783">
                  <a:moveTo>
                    <a:pt x="2200783" y="45397"/>
                  </a:moveTo>
                  <a:lnTo>
                    <a:pt x="2200783" y="682059"/>
                  </a:lnTo>
                  <a:cubicBezTo>
                    <a:pt x="2200783" y="694099"/>
                    <a:pt x="2196000" y="705646"/>
                    <a:pt x="2187486" y="714159"/>
                  </a:cubicBezTo>
                  <a:cubicBezTo>
                    <a:pt x="2178973" y="722673"/>
                    <a:pt x="2167426" y="727456"/>
                    <a:pt x="2155386" y="727456"/>
                  </a:cubicBezTo>
                  <a:lnTo>
                    <a:pt x="45397" y="727456"/>
                  </a:lnTo>
                  <a:cubicBezTo>
                    <a:pt x="33357" y="727456"/>
                    <a:pt x="21810" y="722673"/>
                    <a:pt x="13297" y="714159"/>
                  </a:cubicBezTo>
                  <a:cubicBezTo>
                    <a:pt x="4783" y="705646"/>
                    <a:pt x="0" y="694099"/>
                    <a:pt x="0" y="682059"/>
                  </a:cubicBezTo>
                  <a:lnTo>
                    <a:pt x="0" y="45397"/>
                  </a:lnTo>
                  <a:cubicBezTo>
                    <a:pt x="0" y="33357"/>
                    <a:pt x="4783" y="21810"/>
                    <a:pt x="13297" y="13297"/>
                  </a:cubicBezTo>
                  <a:cubicBezTo>
                    <a:pt x="21810" y="4783"/>
                    <a:pt x="33357" y="0"/>
                    <a:pt x="45397" y="0"/>
                  </a:cubicBezTo>
                  <a:lnTo>
                    <a:pt x="2155386" y="0"/>
                  </a:lnTo>
                  <a:cubicBezTo>
                    <a:pt x="2167426" y="0"/>
                    <a:pt x="2178973" y="4783"/>
                    <a:pt x="2187486" y="13297"/>
                  </a:cubicBezTo>
                  <a:cubicBezTo>
                    <a:pt x="2196000" y="21810"/>
                    <a:pt x="2200783" y="33357"/>
                    <a:pt x="2200783" y="45397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00783" cy="765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921316" y="5613081"/>
            <a:ext cx="822730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 yang kami buat yaitu program antrean parkir.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Dibuat untuk memenuhi projek UTS mata kuliah STRUKTUR DATA.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Jumlah kendaraan meningkat → butuh sistem parkir 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75693" y="1864951"/>
            <a:ext cx="5389372" cy="6508903"/>
            <a:chOff x="0" y="0"/>
            <a:chExt cx="834955" cy="10083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4955" cy="1008399"/>
            </a:xfrm>
            <a:custGeom>
              <a:avLst/>
              <a:gdLst/>
              <a:ahLst/>
              <a:cxnLst/>
              <a:rect r="r" b="b" t="t" l="l"/>
              <a:pathLst>
                <a:path h="1008399" w="834955">
                  <a:moveTo>
                    <a:pt x="114921" y="0"/>
                  </a:moveTo>
                  <a:lnTo>
                    <a:pt x="720033" y="0"/>
                  </a:lnTo>
                  <a:cubicBezTo>
                    <a:pt x="750512" y="0"/>
                    <a:pt x="779743" y="12108"/>
                    <a:pt x="801295" y="33660"/>
                  </a:cubicBezTo>
                  <a:cubicBezTo>
                    <a:pt x="822847" y="55212"/>
                    <a:pt x="834955" y="84442"/>
                    <a:pt x="834955" y="114921"/>
                  </a:cubicBezTo>
                  <a:lnTo>
                    <a:pt x="834955" y="893478"/>
                  </a:lnTo>
                  <a:cubicBezTo>
                    <a:pt x="834955" y="956947"/>
                    <a:pt x="783503" y="1008399"/>
                    <a:pt x="720033" y="1008399"/>
                  </a:cubicBezTo>
                  <a:lnTo>
                    <a:pt x="114921" y="1008399"/>
                  </a:lnTo>
                  <a:cubicBezTo>
                    <a:pt x="84442" y="1008399"/>
                    <a:pt x="55212" y="996292"/>
                    <a:pt x="33660" y="974740"/>
                  </a:cubicBezTo>
                  <a:cubicBezTo>
                    <a:pt x="12108" y="953188"/>
                    <a:pt x="0" y="923957"/>
                    <a:pt x="0" y="893478"/>
                  </a:cubicBezTo>
                  <a:lnTo>
                    <a:pt x="0" y="114921"/>
                  </a:lnTo>
                  <a:cubicBezTo>
                    <a:pt x="0" y="84442"/>
                    <a:pt x="12108" y="55212"/>
                    <a:pt x="33660" y="33660"/>
                  </a:cubicBezTo>
                  <a:cubicBezTo>
                    <a:pt x="55212" y="12108"/>
                    <a:pt x="84442" y="0"/>
                    <a:pt x="114921" y="0"/>
                  </a:cubicBezTo>
                  <a:close/>
                </a:path>
              </a:pathLst>
            </a:custGeom>
            <a:blipFill>
              <a:blip r:embed="rId5"/>
              <a:stretch>
                <a:fillRect l="-91735" t="0" r="-227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51077" y="2203208"/>
            <a:ext cx="8487068" cy="251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Rumusan Masalah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2342" y="5119402"/>
            <a:ext cx="9553599" cy="3976847"/>
            <a:chOff x="0" y="0"/>
            <a:chExt cx="2200783" cy="916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0783" cy="916233"/>
            </a:xfrm>
            <a:custGeom>
              <a:avLst/>
              <a:gdLst/>
              <a:ahLst/>
              <a:cxnLst/>
              <a:rect r="r" b="b" t="t" l="l"/>
              <a:pathLst>
                <a:path h="916233" w="2200783">
                  <a:moveTo>
                    <a:pt x="2200783" y="39708"/>
                  </a:moveTo>
                  <a:lnTo>
                    <a:pt x="2200783" y="876525"/>
                  </a:lnTo>
                  <a:cubicBezTo>
                    <a:pt x="2200783" y="887056"/>
                    <a:pt x="2196599" y="897156"/>
                    <a:pt x="2189153" y="904603"/>
                  </a:cubicBezTo>
                  <a:cubicBezTo>
                    <a:pt x="2181706" y="912049"/>
                    <a:pt x="2171606" y="916233"/>
                    <a:pt x="2161075" y="916233"/>
                  </a:cubicBezTo>
                  <a:lnTo>
                    <a:pt x="39708" y="916233"/>
                  </a:lnTo>
                  <a:cubicBezTo>
                    <a:pt x="29177" y="916233"/>
                    <a:pt x="19077" y="912049"/>
                    <a:pt x="11630" y="904603"/>
                  </a:cubicBezTo>
                  <a:cubicBezTo>
                    <a:pt x="4184" y="897156"/>
                    <a:pt x="0" y="887056"/>
                    <a:pt x="0" y="876525"/>
                  </a:cubicBezTo>
                  <a:lnTo>
                    <a:pt x="0" y="39708"/>
                  </a:lnTo>
                  <a:cubicBezTo>
                    <a:pt x="0" y="29177"/>
                    <a:pt x="4184" y="19077"/>
                    <a:pt x="11630" y="11630"/>
                  </a:cubicBezTo>
                  <a:cubicBezTo>
                    <a:pt x="19077" y="4184"/>
                    <a:pt x="29177" y="0"/>
                    <a:pt x="39708" y="0"/>
                  </a:cubicBezTo>
                  <a:lnTo>
                    <a:pt x="2161075" y="0"/>
                  </a:lnTo>
                  <a:cubicBezTo>
                    <a:pt x="2171606" y="0"/>
                    <a:pt x="2181706" y="4184"/>
                    <a:pt x="2189153" y="11630"/>
                  </a:cubicBezTo>
                  <a:cubicBezTo>
                    <a:pt x="2196599" y="19077"/>
                    <a:pt x="2200783" y="29177"/>
                    <a:pt x="2200783" y="39708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00783" cy="954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09126" y="5298897"/>
            <a:ext cx="9180030" cy="426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Bagimanam engatur antrian kendaraan (FIFO) ?</a:t>
            </a:r>
          </a:p>
          <a:p>
            <a:pPr algn="just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Bagimana  m</a:t>
            </a:r>
            <a:r>
              <a:rPr lang="en-US" sz="3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embatasi kapasitas parkir (Linked List) ?</a:t>
            </a:r>
          </a:p>
          <a:p>
            <a:pPr algn="just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Bagimana m</a:t>
            </a:r>
            <a:r>
              <a:rPr lang="en-US" sz="3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enampilkan data secara real-time ?</a:t>
            </a:r>
          </a:p>
          <a:p>
            <a:pPr algn="just">
              <a:lnSpc>
                <a:spcPts val="5761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46975" y="2175823"/>
            <a:ext cx="5902319" cy="5902319"/>
          </a:xfrm>
          <a:custGeom>
            <a:avLst/>
            <a:gdLst/>
            <a:ahLst/>
            <a:cxnLst/>
            <a:rect r="r" b="b" t="t" l="l"/>
            <a:pathLst>
              <a:path h="5902319" w="5902319">
                <a:moveTo>
                  <a:pt x="0" y="0"/>
                </a:moveTo>
                <a:lnTo>
                  <a:pt x="5902320" y="0"/>
                </a:lnTo>
                <a:lnTo>
                  <a:pt x="5902320" y="5902320"/>
                </a:lnTo>
                <a:lnTo>
                  <a:pt x="0" y="5902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4079" y="2609411"/>
            <a:ext cx="8487068" cy="132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Tujuan</a:t>
            </a:r>
          </a:p>
        </p:txBody>
      </p:sp>
      <p:sp>
        <p:nvSpPr>
          <p:cNvPr name="AutoShape 9" id="9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93792" y="4745764"/>
            <a:ext cx="9650533" cy="3531112"/>
            <a:chOff x="0" y="0"/>
            <a:chExt cx="2200783" cy="805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0783" cy="805368"/>
            </a:xfrm>
            <a:custGeom>
              <a:avLst/>
              <a:gdLst/>
              <a:ahLst/>
              <a:cxnLst/>
              <a:rect r="r" b="b" t="t" l="l"/>
              <a:pathLst>
                <a:path h="805368" w="2200783">
                  <a:moveTo>
                    <a:pt x="2200783" y="39309"/>
                  </a:moveTo>
                  <a:lnTo>
                    <a:pt x="2200783" y="766059"/>
                  </a:lnTo>
                  <a:cubicBezTo>
                    <a:pt x="2200783" y="787768"/>
                    <a:pt x="2183184" y="805368"/>
                    <a:pt x="2161474" y="805368"/>
                  </a:cubicBezTo>
                  <a:lnTo>
                    <a:pt x="39309" y="805368"/>
                  </a:lnTo>
                  <a:cubicBezTo>
                    <a:pt x="17599" y="805368"/>
                    <a:pt x="0" y="787768"/>
                    <a:pt x="0" y="766059"/>
                  </a:cubicBezTo>
                  <a:lnTo>
                    <a:pt x="0" y="39309"/>
                  </a:lnTo>
                  <a:cubicBezTo>
                    <a:pt x="0" y="17599"/>
                    <a:pt x="17599" y="0"/>
                    <a:pt x="39309" y="0"/>
                  </a:cubicBezTo>
                  <a:lnTo>
                    <a:pt x="2161474" y="0"/>
                  </a:lnTo>
                  <a:cubicBezTo>
                    <a:pt x="2171899" y="0"/>
                    <a:pt x="2181898" y="4141"/>
                    <a:pt x="2189269" y="11513"/>
                  </a:cubicBezTo>
                  <a:cubicBezTo>
                    <a:pt x="2196642" y="18885"/>
                    <a:pt x="2200783" y="28884"/>
                    <a:pt x="2200783" y="3930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00783" cy="8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3230" y="4911507"/>
            <a:ext cx="9119645" cy="316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851" indent="-391926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Menerapkan sistem queue linked list pada sistem parkir</a:t>
            </a:r>
          </a:p>
          <a:p>
            <a:pPr algn="l" marL="783851" indent="-391926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Mengatur antrian kendaraan (FIFO)</a:t>
            </a:r>
          </a:p>
          <a:p>
            <a:pPr algn="l" marL="783851" indent="-391926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Menyediakan informasi parkir secara efisien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70554" y="3755447"/>
            <a:ext cx="9393639" cy="4209169"/>
            <a:chOff x="0" y="0"/>
            <a:chExt cx="1797111" cy="80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7111" cy="805368"/>
            </a:xfrm>
            <a:custGeom>
              <a:avLst/>
              <a:gdLst/>
              <a:ahLst/>
              <a:cxnLst/>
              <a:rect r="r" b="b" t="t" l="l"/>
              <a:pathLst>
                <a:path h="805368" w="1797111">
                  <a:moveTo>
                    <a:pt x="1797111" y="40384"/>
                  </a:moveTo>
                  <a:lnTo>
                    <a:pt x="1797111" y="764984"/>
                  </a:lnTo>
                  <a:cubicBezTo>
                    <a:pt x="1797111" y="787287"/>
                    <a:pt x="1779030" y="805368"/>
                    <a:pt x="1756727" y="805368"/>
                  </a:cubicBezTo>
                  <a:lnTo>
                    <a:pt x="40384" y="805368"/>
                  </a:lnTo>
                  <a:cubicBezTo>
                    <a:pt x="18081" y="805368"/>
                    <a:pt x="0" y="787287"/>
                    <a:pt x="0" y="764984"/>
                  </a:cubicBezTo>
                  <a:lnTo>
                    <a:pt x="0" y="40384"/>
                  </a:lnTo>
                  <a:cubicBezTo>
                    <a:pt x="0" y="18081"/>
                    <a:pt x="18081" y="0"/>
                    <a:pt x="40384" y="0"/>
                  </a:cubicBezTo>
                  <a:lnTo>
                    <a:pt x="1756727" y="0"/>
                  </a:lnTo>
                  <a:cubicBezTo>
                    <a:pt x="1779030" y="0"/>
                    <a:pt x="1797111" y="18081"/>
                    <a:pt x="1797111" y="40384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97111" cy="8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50902" y="-1153431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22342" y="4632526"/>
            <a:ext cx="6511736" cy="3350591"/>
          </a:xfrm>
          <a:custGeom>
            <a:avLst/>
            <a:gdLst/>
            <a:ahLst/>
            <a:cxnLst/>
            <a:rect r="r" b="b" t="t" l="l"/>
            <a:pathLst>
              <a:path h="3350591" w="6511736">
                <a:moveTo>
                  <a:pt x="0" y="0"/>
                </a:moveTo>
                <a:lnTo>
                  <a:pt x="6511736" y="0"/>
                </a:lnTo>
                <a:lnTo>
                  <a:pt x="6511736" y="3350592"/>
                </a:lnTo>
                <a:lnTo>
                  <a:pt x="0" y="3350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4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70554" y="2057255"/>
            <a:ext cx="5986233" cy="98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Konsep Teori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37554" y="3968841"/>
            <a:ext cx="8059639" cy="429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4"/>
              </a:lnSpc>
            </a:pPr>
            <a:r>
              <a:rPr lang="en-US" sz="34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Queue (Antrian)</a:t>
            </a:r>
          </a:p>
          <a:p>
            <a:pPr algn="just">
              <a:lnSpc>
                <a:spcPts val="4854"/>
              </a:lnSpc>
            </a:pPr>
            <a:r>
              <a:rPr lang="en-US" sz="34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Struktur data yang menyimpan data secara berurutan seperti antrian.</a:t>
            </a:r>
          </a:p>
          <a:p>
            <a:pPr algn="just">
              <a:lnSpc>
                <a:spcPts val="4854"/>
              </a:lnSpc>
              <a:spcBef>
                <a:spcPct val="0"/>
              </a:spcBef>
            </a:pPr>
            <a:r>
              <a:rPr lang="en-US" sz="34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➡️ Data masuk dari belakang, keluar dari depan.</a:t>
            </a:r>
          </a:p>
          <a:p>
            <a:pPr algn="just">
              <a:lnSpc>
                <a:spcPts val="485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50902" y="4095413"/>
            <a:ext cx="8708398" cy="4340858"/>
            <a:chOff x="0" y="0"/>
            <a:chExt cx="1615475" cy="80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5475" cy="805368"/>
            </a:xfrm>
            <a:custGeom>
              <a:avLst/>
              <a:gdLst/>
              <a:ahLst/>
              <a:cxnLst/>
              <a:rect r="r" b="b" t="t" l="l"/>
              <a:pathLst>
                <a:path h="805368" w="1615475">
                  <a:moveTo>
                    <a:pt x="1615475" y="43562"/>
                  </a:moveTo>
                  <a:lnTo>
                    <a:pt x="1615475" y="761806"/>
                  </a:lnTo>
                  <a:cubicBezTo>
                    <a:pt x="1615475" y="785864"/>
                    <a:pt x="1595971" y="805368"/>
                    <a:pt x="1571913" y="805368"/>
                  </a:cubicBezTo>
                  <a:lnTo>
                    <a:pt x="43562" y="805368"/>
                  </a:lnTo>
                  <a:cubicBezTo>
                    <a:pt x="19503" y="805368"/>
                    <a:pt x="0" y="785864"/>
                    <a:pt x="0" y="761806"/>
                  </a:cubicBezTo>
                  <a:lnTo>
                    <a:pt x="0" y="43562"/>
                  </a:lnTo>
                  <a:cubicBezTo>
                    <a:pt x="0" y="19503"/>
                    <a:pt x="19503" y="0"/>
                    <a:pt x="43562" y="0"/>
                  </a:cubicBezTo>
                  <a:lnTo>
                    <a:pt x="1571913" y="0"/>
                  </a:lnTo>
                  <a:cubicBezTo>
                    <a:pt x="1595971" y="0"/>
                    <a:pt x="1615475" y="19503"/>
                    <a:pt x="1615475" y="43562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15475" cy="8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50902" y="-1153431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22729" y="3540603"/>
            <a:ext cx="5475940" cy="5039639"/>
          </a:xfrm>
          <a:custGeom>
            <a:avLst/>
            <a:gdLst/>
            <a:ahLst/>
            <a:cxnLst/>
            <a:rect r="r" b="b" t="t" l="l"/>
            <a:pathLst>
              <a:path h="5039639" w="5475940">
                <a:moveTo>
                  <a:pt x="0" y="0"/>
                </a:moveTo>
                <a:lnTo>
                  <a:pt x="5475941" y="0"/>
                </a:lnTo>
                <a:lnTo>
                  <a:pt x="5475941" y="5039639"/>
                </a:lnTo>
                <a:lnTo>
                  <a:pt x="0" y="5039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4316" t="-26412" r="-64316" b="-1270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50902" y="2457894"/>
            <a:ext cx="5986233" cy="98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Konsep Teori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69246" y="4604942"/>
            <a:ext cx="7471709" cy="380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5"/>
              </a:lnSpc>
            </a:pPr>
            <a:r>
              <a:rPr lang="en-US" sz="35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FIFO (First In First Out)</a:t>
            </a:r>
          </a:p>
          <a:p>
            <a:pPr algn="just">
              <a:lnSpc>
                <a:spcPts val="5005"/>
              </a:lnSpc>
            </a:pPr>
            <a:r>
              <a:rPr lang="en-US" sz="3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Konsep di mana data yang masuk terlebih dahulu akan keluar terlebih dahulu.</a:t>
            </a:r>
          </a:p>
          <a:p>
            <a:pPr algn="just">
              <a:lnSpc>
                <a:spcPts val="5005"/>
              </a:lnSpc>
              <a:spcBef>
                <a:spcPct val="0"/>
              </a:spcBef>
            </a:pPr>
            <a:r>
              <a:rPr lang="en-US" sz="3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➡️ Seperti antrian di kasir.</a:t>
            </a:r>
          </a:p>
          <a:p>
            <a:pPr algn="just">
              <a:lnSpc>
                <a:spcPts val="500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27826" y="3795218"/>
            <a:ext cx="9784698" cy="4490673"/>
            <a:chOff x="0" y="0"/>
            <a:chExt cx="1806138" cy="8290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6138" cy="829033"/>
            </a:xfrm>
            <a:custGeom>
              <a:avLst/>
              <a:gdLst/>
              <a:ahLst/>
              <a:cxnLst/>
              <a:rect r="r" b="b" t="t" l="l"/>
              <a:pathLst>
                <a:path h="829033" w="1806138">
                  <a:moveTo>
                    <a:pt x="1806138" y="38770"/>
                  </a:moveTo>
                  <a:lnTo>
                    <a:pt x="1806138" y="790263"/>
                  </a:lnTo>
                  <a:cubicBezTo>
                    <a:pt x="1806138" y="800545"/>
                    <a:pt x="1802053" y="810406"/>
                    <a:pt x="1794782" y="817677"/>
                  </a:cubicBezTo>
                  <a:cubicBezTo>
                    <a:pt x="1787511" y="824948"/>
                    <a:pt x="1777650" y="829033"/>
                    <a:pt x="1767368" y="829033"/>
                  </a:cubicBezTo>
                  <a:lnTo>
                    <a:pt x="38770" y="829033"/>
                  </a:lnTo>
                  <a:cubicBezTo>
                    <a:pt x="28488" y="829033"/>
                    <a:pt x="18626" y="824948"/>
                    <a:pt x="11356" y="817677"/>
                  </a:cubicBezTo>
                  <a:cubicBezTo>
                    <a:pt x="4085" y="810406"/>
                    <a:pt x="0" y="800545"/>
                    <a:pt x="0" y="790263"/>
                  </a:cubicBezTo>
                  <a:lnTo>
                    <a:pt x="0" y="38770"/>
                  </a:lnTo>
                  <a:cubicBezTo>
                    <a:pt x="0" y="28488"/>
                    <a:pt x="4085" y="18626"/>
                    <a:pt x="11356" y="11356"/>
                  </a:cubicBezTo>
                  <a:cubicBezTo>
                    <a:pt x="18626" y="4085"/>
                    <a:pt x="28488" y="0"/>
                    <a:pt x="38770" y="0"/>
                  </a:cubicBezTo>
                  <a:lnTo>
                    <a:pt x="1767368" y="0"/>
                  </a:lnTo>
                  <a:cubicBezTo>
                    <a:pt x="1788780" y="0"/>
                    <a:pt x="1806138" y="17358"/>
                    <a:pt x="1806138" y="3877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06138" cy="86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50902" y="-1153431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22342" y="4064384"/>
            <a:ext cx="5387796" cy="3779499"/>
          </a:xfrm>
          <a:custGeom>
            <a:avLst/>
            <a:gdLst/>
            <a:ahLst/>
            <a:cxnLst/>
            <a:rect r="r" b="b" t="t" l="l"/>
            <a:pathLst>
              <a:path h="3779499" w="5387796">
                <a:moveTo>
                  <a:pt x="0" y="0"/>
                </a:moveTo>
                <a:lnTo>
                  <a:pt x="5387796" y="0"/>
                </a:lnTo>
                <a:lnTo>
                  <a:pt x="5387796" y="3779499"/>
                </a:lnTo>
                <a:lnTo>
                  <a:pt x="0" y="377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64901" y="2390834"/>
            <a:ext cx="5986233" cy="98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Konsep Teori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80340" y="3959609"/>
            <a:ext cx="8948490" cy="444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0"/>
              </a:lnSpc>
            </a:pPr>
            <a:r>
              <a:rPr lang="en-US" sz="359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Linked List</a:t>
            </a:r>
          </a:p>
          <a:p>
            <a:pPr algn="just">
              <a:lnSpc>
                <a:spcPts val="5030"/>
              </a:lnSpc>
              <a:spcBef>
                <a:spcPct val="0"/>
              </a:spcBef>
            </a:pPr>
            <a:r>
              <a:rPr lang="en-US" sz="3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3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nked list adalah salah satu struktur data dasar dalam pemrograman yang terdiri dari serangkaian elemen data yang terhubung satu sama lain menggunakan referensi atau pointer</a:t>
            </a:r>
          </a:p>
          <a:p>
            <a:pPr algn="just">
              <a:lnSpc>
                <a:spcPts val="503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80712" y="0"/>
            <a:ext cx="8107288" cy="10287000"/>
          </a:xfrm>
          <a:custGeom>
            <a:avLst/>
            <a:gdLst/>
            <a:ahLst/>
            <a:cxnLst/>
            <a:rect r="r" b="b" t="t" l="l"/>
            <a:pathLst>
              <a:path h="10287000" w="8107288">
                <a:moveTo>
                  <a:pt x="0" y="0"/>
                </a:moveTo>
                <a:lnTo>
                  <a:pt x="8107288" y="0"/>
                </a:lnTo>
                <a:lnTo>
                  <a:pt x="81072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93" r="-309" b="-1356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346625"/>
            <a:ext cx="4913978" cy="103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Flowchart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113" y="3828449"/>
            <a:ext cx="7201200" cy="498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Mulai → Input kapasitas parkir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Tampilkan menu pilihan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Pilih proses: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Enqueue → kendaraan masuk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Dequeue → kendaraan keluar &amp; hitung biaya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Peek → lihat kendaraan depan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 → tampilkan semua data</a:t>
            </a:r>
          </a:p>
          <a:p>
            <a:pPr algn="l" marL="615150" indent="-307575" lvl="1">
              <a:lnSpc>
                <a:spcPts val="3988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Kembali ke menu / keluar program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40377" y="0"/>
            <a:ext cx="9047623" cy="4362486"/>
            <a:chOff x="0" y="0"/>
            <a:chExt cx="1670082" cy="80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0083" cy="805368"/>
            </a:xfrm>
            <a:custGeom>
              <a:avLst/>
              <a:gdLst/>
              <a:ahLst/>
              <a:cxnLst/>
              <a:rect r="r" b="b" t="t" l="l"/>
              <a:pathLst>
                <a:path h="805368" w="1670083">
                  <a:moveTo>
                    <a:pt x="1670083" y="41929"/>
                  </a:moveTo>
                  <a:lnTo>
                    <a:pt x="1670083" y="763439"/>
                  </a:lnTo>
                  <a:cubicBezTo>
                    <a:pt x="1670083" y="774559"/>
                    <a:pt x="1665665" y="785224"/>
                    <a:pt x="1657802" y="793087"/>
                  </a:cubicBezTo>
                  <a:cubicBezTo>
                    <a:pt x="1649939" y="800950"/>
                    <a:pt x="1639274" y="805368"/>
                    <a:pt x="1628154" y="805368"/>
                  </a:cubicBezTo>
                  <a:lnTo>
                    <a:pt x="41929" y="805368"/>
                  </a:lnTo>
                  <a:cubicBezTo>
                    <a:pt x="30808" y="805368"/>
                    <a:pt x="20144" y="800950"/>
                    <a:pt x="12281" y="793087"/>
                  </a:cubicBezTo>
                  <a:cubicBezTo>
                    <a:pt x="4417" y="785224"/>
                    <a:pt x="0" y="774559"/>
                    <a:pt x="0" y="76343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0082" cy="8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917809" y="4960036"/>
            <a:ext cx="6337820" cy="4445933"/>
          </a:xfrm>
          <a:custGeom>
            <a:avLst/>
            <a:gdLst/>
            <a:ahLst/>
            <a:cxnLst/>
            <a:rect r="r" b="b" t="t" l="l"/>
            <a:pathLst>
              <a:path h="4445933" w="6337820">
                <a:moveTo>
                  <a:pt x="0" y="0"/>
                </a:moveTo>
                <a:lnTo>
                  <a:pt x="6337820" y="0"/>
                </a:lnTo>
                <a:lnTo>
                  <a:pt x="6337820" y="4445933"/>
                </a:lnTo>
                <a:lnTo>
                  <a:pt x="0" y="4445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7354" y="5143500"/>
            <a:ext cx="6397702" cy="4262469"/>
          </a:xfrm>
          <a:custGeom>
            <a:avLst/>
            <a:gdLst/>
            <a:ahLst/>
            <a:cxnLst/>
            <a:rect r="r" b="b" t="t" l="l"/>
            <a:pathLst>
              <a:path h="4262469" w="6397702">
                <a:moveTo>
                  <a:pt x="0" y="0"/>
                </a:moveTo>
                <a:lnTo>
                  <a:pt x="6397702" y="0"/>
                </a:lnTo>
                <a:lnTo>
                  <a:pt x="6397702" y="4262469"/>
                </a:lnTo>
                <a:lnTo>
                  <a:pt x="0" y="4262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6575" y="1684817"/>
            <a:ext cx="6040995" cy="381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Linked List</a:t>
            </a:r>
          </a:p>
          <a:p>
            <a:pPr algn="just">
              <a:lnSpc>
                <a:spcPts val="7318"/>
              </a:lnSpc>
            </a:pPr>
          </a:p>
          <a:p>
            <a:pPr algn="just">
              <a:lnSpc>
                <a:spcPts val="731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18344" y="653465"/>
            <a:ext cx="9257157" cy="338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1545" indent="-410772" lvl="1">
              <a:lnSpc>
                <a:spcPts val="5327"/>
              </a:lnSpc>
              <a:buFont typeface="Arial"/>
              <a:buChar char="•"/>
            </a:pPr>
            <a:r>
              <a:rPr lang="en-US" sz="380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Masuk → enqueue (rear)</a:t>
            </a:r>
          </a:p>
          <a:p>
            <a:pPr algn="just" marL="821545" indent="-410772" lvl="1">
              <a:lnSpc>
                <a:spcPts val="5327"/>
              </a:lnSpc>
              <a:buFont typeface="Arial"/>
              <a:buChar char="•"/>
            </a:pPr>
            <a:r>
              <a:rPr lang="en-US" sz="380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Keluar → dequeue (front)</a:t>
            </a:r>
          </a:p>
          <a:p>
            <a:pPr algn="just" marL="821545" indent="-410772" lvl="1">
              <a:lnSpc>
                <a:spcPts val="5327"/>
              </a:lnSpc>
              <a:buFont typeface="Arial"/>
              <a:buChar char="•"/>
            </a:pPr>
            <a:r>
              <a:rPr lang="en-US" sz="380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→ linked list</a:t>
            </a:r>
          </a:p>
          <a:p>
            <a:pPr algn="just" marL="821545" indent="-410772" lvl="1">
              <a:lnSpc>
                <a:spcPts val="5327"/>
              </a:lnSpc>
              <a:buFont typeface="Arial"/>
              <a:buChar char="•"/>
            </a:pPr>
            <a:r>
              <a:rPr lang="en-US" sz="380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→ FIFO + hitung biaya</a:t>
            </a:r>
          </a:p>
          <a:p>
            <a:pPr algn="just">
              <a:lnSpc>
                <a:spcPts val="532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-3771684" y="10107990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660485" y="4696212"/>
            <a:ext cx="9047623" cy="3515792"/>
            <a:chOff x="0" y="0"/>
            <a:chExt cx="1670082" cy="6490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70083" cy="649058"/>
            </a:xfrm>
            <a:custGeom>
              <a:avLst/>
              <a:gdLst/>
              <a:ahLst/>
              <a:cxnLst/>
              <a:rect r="r" b="b" t="t" l="l"/>
              <a:pathLst>
                <a:path h="649058" w="1670083">
                  <a:moveTo>
                    <a:pt x="1670083" y="41929"/>
                  </a:moveTo>
                  <a:lnTo>
                    <a:pt x="1670083" y="607129"/>
                  </a:lnTo>
                  <a:cubicBezTo>
                    <a:pt x="1670083" y="618249"/>
                    <a:pt x="1665665" y="628914"/>
                    <a:pt x="1657802" y="636777"/>
                  </a:cubicBezTo>
                  <a:cubicBezTo>
                    <a:pt x="1649939" y="644640"/>
                    <a:pt x="1639274" y="649058"/>
                    <a:pt x="1628154" y="649058"/>
                  </a:cubicBezTo>
                  <a:lnTo>
                    <a:pt x="41929" y="649058"/>
                  </a:lnTo>
                  <a:cubicBezTo>
                    <a:pt x="30808" y="649058"/>
                    <a:pt x="20144" y="644640"/>
                    <a:pt x="12281" y="636777"/>
                  </a:cubicBezTo>
                  <a:cubicBezTo>
                    <a:pt x="4417" y="628914"/>
                    <a:pt x="0" y="618249"/>
                    <a:pt x="0" y="60712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70082" cy="687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144000" y="1677616"/>
            <a:ext cx="7910896" cy="7313572"/>
          </a:xfrm>
          <a:custGeom>
            <a:avLst/>
            <a:gdLst/>
            <a:ahLst/>
            <a:cxnLst/>
            <a:rect r="r" b="b" t="t" l="l"/>
            <a:pathLst>
              <a:path h="7313572" w="7910896">
                <a:moveTo>
                  <a:pt x="0" y="0"/>
                </a:moveTo>
                <a:lnTo>
                  <a:pt x="7910896" y="0"/>
                </a:lnTo>
                <a:lnTo>
                  <a:pt x="7910896" y="7313572"/>
                </a:lnTo>
                <a:lnTo>
                  <a:pt x="0" y="7313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7786" y="1706191"/>
            <a:ext cx="6257816" cy="172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3"/>
              </a:lnSpc>
            </a:pPr>
            <a:r>
              <a:rPr lang="en-US" sz="61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Program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118" y="5095232"/>
            <a:ext cx="5636881" cy="266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tur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antrian parkir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gecek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disi k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uh</a:t>
            </a:r>
          </a:p>
          <a:p>
            <a:pPr algn="l" marL="548911" indent="-274456" lvl="1">
              <a:lnSpc>
                <a:spcPts val="3559"/>
              </a:lnSpc>
              <a:spcBef>
                <a:spcPct val="0"/>
              </a:spcBef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gg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akan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ep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Queue Linked List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aga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bih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fisien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-4277584" y="1008007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688400" y="5143500"/>
            <a:ext cx="9047623" cy="4362486"/>
            <a:chOff x="0" y="0"/>
            <a:chExt cx="1670082" cy="805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70083" cy="805368"/>
            </a:xfrm>
            <a:custGeom>
              <a:avLst/>
              <a:gdLst/>
              <a:ahLst/>
              <a:cxnLst/>
              <a:rect r="r" b="b" t="t" l="l"/>
              <a:pathLst>
                <a:path h="805368" w="1670083">
                  <a:moveTo>
                    <a:pt x="1670083" y="41929"/>
                  </a:moveTo>
                  <a:lnTo>
                    <a:pt x="1670083" y="763439"/>
                  </a:lnTo>
                  <a:cubicBezTo>
                    <a:pt x="1670083" y="774559"/>
                    <a:pt x="1665665" y="785224"/>
                    <a:pt x="1657802" y="793087"/>
                  </a:cubicBezTo>
                  <a:cubicBezTo>
                    <a:pt x="1649939" y="800950"/>
                    <a:pt x="1639274" y="805368"/>
                    <a:pt x="1628154" y="805368"/>
                  </a:cubicBezTo>
                  <a:lnTo>
                    <a:pt x="41929" y="805368"/>
                  </a:lnTo>
                  <a:cubicBezTo>
                    <a:pt x="30808" y="805368"/>
                    <a:pt x="20144" y="800950"/>
                    <a:pt x="12281" y="793087"/>
                  </a:cubicBezTo>
                  <a:cubicBezTo>
                    <a:pt x="4417" y="785224"/>
                    <a:pt x="0" y="774559"/>
                    <a:pt x="0" y="76343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70082" cy="8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75476" y="3219717"/>
            <a:ext cx="11412424" cy="4826630"/>
          </a:xfrm>
          <a:custGeom>
            <a:avLst/>
            <a:gdLst/>
            <a:ahLst/>
            <a:cxnLst/>
            <a:rect r="r" b="b" t="t" l="l"/>
            <a:pathLst>
              <a:path h="4826630" w="11412424">
                <a:moveTo>
                  <a:pt x="0" y="0"/>
                </a:moveTo>
                <a:lnTo>
                  <a:pt x="11412424" y="0"/>
                </a:lnTo>
                <a:lnTo>
                  <a:pt x="11412424" y="4826630"/>
                </a:lnTo>
                <a:lnTo>
                  <a:pt x="0" y="4826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39" t="0" r="-1074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7786" y="1706191"/>
            <a:ext cx="6257816" cy="172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3"/>
              </a:lnSpc>
            </a:pPr>
            <a:r>
              <a:rPr lang="en-US" sz="61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Program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2342" y="5042042"/>
            <a:ext cx="5636881" cy="401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</a:p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Enqueue (Masuk)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Menambahkan kendaraan ke antrian parkir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nomor plat kendaraan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Sistem mencatat waktu masuk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disimpan di posisi rear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💡 Fungsi: mengatur kendaraan yang masuk secara terurut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-3914685" y="10010811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688400" y="4895814"/>
            <a:ext cx="10220065" cy="3963502"/>
            <a:chOff x="0" y="0"/>
            <a:chExt cx="1886501" cy="731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6501" cy="731711"/>
            </a:xfrm>
            <a:custGeom>
              <a:avLst/>
              <a:gdLst/>
              <a:ahLst/>
              <a:cxnLst/>
              <a:rect r="r" b="b" t="t" l="l"/>
              <a:pathLst>
                <a:path h="731711" w="1886501">
                  <a:moveTo>
                    <a:pt x="1886501" y="37119"/>
                  </a:moveTo>
                  <a:lnTo>
                    <a:pt x="1886501" y="694592"/>
                  </a:lnTo>
                  <a:cubicBezTo>
                    <a:pt x="1886501" y="704437"/>
                    <a:pt x="1882591" y="713878"/>
                    <a:pt x="1875629" y="720839"/>
                  </a:cubicBezTo>
                  <a:cubicBezTo>
                    <a:pt x="1868668" y="727800"/>
                    <a:pt x="1859227" y="731711"/>
                    <a:pt x="1849383" y="731711"/>
                  </a:cubicBezTo>
                  <a:lnTo>
                    <a:pt x="37119" y="731711"/>
                  </a:lnTo>
                  <a:cubicBezTo>
                    <a:pt x="27274" y="731711"/>
                    <a:pt x="17833" y="727800"/>
                    <a:pt x="10872" y="720839"/>
                  </a:cubicBezTo>
                  <a:cubicBezTo>
                    <a:pt x="3911" y="713878"/>
                    <a:pt x="0" y="704437"/>
                    <a:pt x="0" y="694592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86501" cy="76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144000" y="1488686"/>
            <a:ext cx="7378336" cy="7769614"/>
          </a:xfrm>
          <a:custGeom>
            <a:avLst/>
            <a:gdLst/>
            <a:ahLst/>
            <a:cxnLst/>
            <a:rect r="r" b="b" t="t" l="l"/>
            <a:pathLst>
              <a:path h="7769614" w="7378336">
                <a:moveTo>
                  <a:pt x="0" y="0"/>
                </a:moveTo>
                <a:lnTo>
                  <a:pt x="7378336" y="0"/>
                </a:lnTo>
                <a:lnTo>
                  <a:pt x="7378336" y="7769614"/>
                </a:lnTo>
                <a:lnTo>
                  <a:pt x="0" y="7769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" t="0" r="-40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7786" y="1706191"/>
            <a:ext cx="6257816" cy="172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3"/>
              </a:lnSpc>
            </a:pPr>
            <a:r>
              <a:rPr lang="en-US" sz="61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Program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019" y="5294869"/>
            <a:ext cx="7032645" cy="356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queue (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Kel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gelu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kan kendaraan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ari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Sistem mencatat waktu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kelu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Menghi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ung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ura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rkir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gh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tung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aya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rki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💡 Fungsi: me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ikan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kendaraan ke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FIFO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88400" y="3708921"/>
            <a:ext cx="10220065" cy="2869158"/>
            <a:chOff x="0" y="0"/>
            <a:chExt cx="1886501" cy="5296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6501" cy="529681"/>
            </a:xfrm>
            <a:custGeom>
              <a:avLst/>
              <a:gdLst/>
              <a:ahLst/>
              <a:cxnLst/>
              <a:rect r="r" b="b" t="t" l="l"/>
              <a:pathLst>
                <a:path h="529681" w="1886501">
                  <a:moveTo>
                    <a:pt x="1886501" y="37119"/>
                  </a:moveTo>
                  <a:lnTo>
                    <a:pt x="1886501" y="492563"/>
                  </a:lnTo>
                  <a:cubicBezTo>
                    <a:pt x="1886501" y="502407"/>
                    <a:pt x="1882591" y="511849"/>
                    <a:pt x="1875629" y="518810"/>
                  </a:cubicBezTo>
                  <a:cubicBezTo>
                    <a:pt x="1868668" y="525771"/>
                    <a:pt x="1859227" y="529681"/>
                    <a:pt x="1849383" y="529681"/>
                  </a:cubicBezTo>
                  <a:lnTo>
                    <a:pt x="37119" y="529681"/>
                  </a:lnTo>
                  <a:cubicBezTo>
                    <a:pt x="27274" y="529681"/>
                    <a:pt x="17833" y="525771"/>
                    <a:pt x="10872" y="518810"/>
                  </a:cubicBezTo>
                  <a:cubicBezTo>
                    <a:pt x="3911" y="511849"/>
                    <a:pt x="0" y="502407"/>
                    <a:pt x="0" y="492563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86501" cy="567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688400" y="6968604"/>
            <a:ext cx="10220065" cy="3064565"/>
            <a:chOff x="0" y="0"/>
            <a:chExt cx="1886501" cy="5657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6501" cy="565756"/>
            </a:xfrm>
            <a:custGeom>
              <a:avLst/>
              <a:gdLst/>
              <a:ahLst/>
              <a:cxnLst/>
              <a:rect r="r" b="b" t="t" l="l"/>
              <a:pathLst>
                <a:path h="565756" w="1886501">
                  <a:moveTo>
                    <a:pt x="1886501" y="37119"/>
                  </a:moveTo>
                  <a:lnTo>
                    <a:pt x="1886501" y="528637"/>
                  </a:lnTo>
                  <a:cubicBezTo>
                    <a:pt x="1886501" y="538482"/>
                    <a:pt x="1882591" y="547923"/>
                    <a:pt x="1875629" y="554884"/>
                  </a:cubicBezTo>
                  <a:cubicBezTo>
                    <a:pt x="1868668" y="561845"/>
                    <a:pt x="1859227" y="565756"/>
                    <a:pt x="1849383" y="565756"/>
                  </a:cubicBezTo>
                  <a:lnTo>
                    <a:pt x="37119" y="565756"/>
                  </a:lnTo>
                  <a:cubicBezTo>
                    <a:pt x="27274" y="565756"/>
                    <a:pt x="17833" y="561845"/>
                    <a:pt x="10872" y="554884"/>
                  </a:cubicBezTo>
                  <a:cubicBezTo>
                    <a:pt x="3911" y="547923"/>
                    <a:pt x="0" y="538482"/>
                    <a:pt x="0" y="528637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86501" cy="603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79665" y="2792021"/>
            <a:ext cx="9475296" cy="5708866"/>
          </a:xfrm>
          <a:custGeom>
            <a:avLst/>
            <a:gdLst/>
            <a:ahLst/>
            <a:cxnLst/>
            <a:rect r="r" b="b" t="t" l="l"/>
            <a:pathLst>
              <a:path h="5708866" w="9475296">
                <a:moveTo>
                  <a:pt x="0" y="0"/>
                </a:moveTo>
                <a:lnTo>
                  <a:pt x="9475295" y="0"/>
                </a:lnTo>
                <a:lnTo>
                  <a:pt x="9475295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2342" y="1656646"/>
            <a:ext cx="5149944" cy="14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</a:pPr>
            <a:r>
              <a:rPr lang="en-US" sz="50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Program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956" y="3908982"/>
            <a:ext cx="7032645" cy="266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ek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Menampi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kan kendaraan paling depan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idak m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enghapus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ata 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 a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trian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💡 Fungsi: menget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ahui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kendaraan yang akan ke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berikutny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12956" y="7168665"/>
            <a:ext cx="7758443" cy="311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Menampi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kan seluruh kendaraan dalam parkiran</a:t>
            </a:r>
          </a:p>
          <a:p>
            <a:pPr algn="l" marL="548911" indent="-274456" lvl="1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enampilkan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pl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 d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waktu masuk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💡 Fungsi: melih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kondisi antrian secara kese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</a:t>
            </a:r>
            <a:r>
              <a:rPr lang="en-US" sz="25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ruhan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205187" y="4287468"/>
            <a:ext cx="13005001" cy="3738783"/>
            <a:chOff x="0" y="0"/>
            <a:chExt cx="1967671" cy="565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7671" cy="565756"/>
            </a:xfrm>
            <a:custGeom>
              <a:avLst/>
              <a:gdLst/>
              <a:ahLst/>
              <a:cxnLst/>
              <a:rect r="r" b="b" t="t" l="l"/>
              <a:pathLst>
                <a:path h="565756" w="1967671">
                  <a:moveTo>
                    <a:pt x="1967671" y="29170"/>
                  </a:moveTo>
                  <a:lnTo>
                    <a:pt x="1967671" y="536586"/>
                  </a:lnTo>
                  <a:cubicBezTo>
                    <a:pt x="1967671" y="552696"/>
                    <a:pt x="1954611" y="565756"/>
                    <a:pt x="1938501" y="565756"/>
                  </a:cubicBezTo>
                  <a:lnTo>
                    <a:pt x="29170" y="565756"/>
                  </a:lnTo>
                  <a:cubicBezTo>
                    <a:pt x="13060" y="565756"/>
                    <a:pt x="0" y="552696"/>
                    <a:pt x="0" y="536586"/>
                  </a:cubicBezTo>
                  <a:lnTo>
                    <a:pt x="0" y="29170"/>
                  </a:lnTo>
                  <a:cubicBezTo>
                    <a:pt x="0" y="13060"/>
                    <a:pt x="13060" y="0"/>
                    <a:pt x="29170" y="0"/>
                  </a:cubicBezTo>
                  <a:lnTo>
                    <a:pt x="1938501" y="0"/>
                  </a:lnTo>
                  <a:cubicBezTo>
                    <a:pt x="1954611" y="0"/>
                    <a:pt x="1967671" y="13060"/>
                    <a:pt x="1967671" y="2917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7671" cy="603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01718" y="1628071"/>
            <a:ext cx="4974418" cy="8290697"/>
          </a:xfrm>
          <a:custGeom>
            <a:avLst/>
            <a:gdLst/>
            <a:ahLst/>
            <a:cxnLst/>
            <a:rect r="r" b="b" t="t" l="l"/>
            <a:pathLst>
              <a:path h="8290697" w="4974418">
                <a:moveTo>
                  <a:pt x="0" y="0"/>
                </a:moveTo>
                <a:lnTo>
                  <a:pt x="4974418" y="0"/>
                </a:lnTo>
                <a:lnTo>
                  <a:pt x="4974418" y="8290697"/>
                </a:lnTo>
                <a:lnTo>
                  <a:pt x="0" y="8290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2342" y="1656646"/>
            <a:ext cx="5149944" cy="14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</a:pPr>
            <a:r>
              <a:rPr lang="en-US" sz="50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Program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480" y="4370571"/>
            <a:ext cx="9465334" cy="352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 Utama</a:t>
            </a:r>
          </a:p>
          <a:p>
            <a:pPr algn="l" marL="669674" indent="-334837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Membuat objek sistem parkir dar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cl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 y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ang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sudah dibuat</a:t>
            </a:r>
          </a:p>
          <a:p>
            <a:pPr algn="l" marL="669674" indent="-334837" lvl="1">
              <a:lnSpc>
                <a:spcPts val="4342"/>
              </a:lnSpc>
              <a:spcBef>
                <a:spcPct val="0"/>
              </a:spcBef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while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True: Program berjal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terus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menerus sampai user memilih ke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lua</a:t>
            </a:r>
            <a:r>
              <a:rPr lang="en-US" sz="310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</a:p>
          <a:p>
            <a:pPr algn="l">
              <a:lnSpc>
                <a:spcPts val="4342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27823" y="1512987"/>
            <a:ext cx="13432354" cy="9406935"/>
            <a:chOff x="0" y="0"/>
            <a:chExt cx="1670082" cy="11697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0083" cy="1169744"/>
            </a:xfrm>
            <a:custGeom>
              <a:avLst/>
              <a:gdLst/>
              <a:ahLst/>
              <a:cxnLst/>
              <a:rect r="r" b="b" t="t" l="l"/>
              <a:pathLst>
                <a:path h="1169744" w="1670083">
                  <a:moveTo>
                    <a:pt x="1670083" y="28242"/>
                  </a:moveTo>
                  <a:lnTo>
                    <a:pt x="1670083" y="1141502"/>
                  </a:lnTo>
                  <a:cubicBezTo>
                    <a:pt x="1670083" y="1148992"/>
                    <a:pt x="1667107" y="1156176"/>
                    <a:pt x="1661811" y="1161472"/>
                  </a:cubicBezTo>
                  <a:cubicBezTo>
                    <a:pt x="1656514" y="1166768"/>
                    <a:pt x="1649331" y="1169744"/>
                    <a:pt x="1641841" y="1169744"/>
                  </a:cubicBezTo>
                  <a:lnTo>
                    <a:pt x="28242" y="1169744"/>
                  </a:lnTo>
                  <a:cubicBezTo>
                    <a:pt x="20752" y="1169744"/>
                    <a:pt x="13568" y="1166768"/>
                    <a:pt x="8272" y="1161472"/>
                  </a:cubicBezTo>
                  <a:cubicBezTo>
                    <a:pt x="2975" y="1156176"/>
                    <a:pt x="0" y="1148992"/>
                    <a:pt x="0" y="1141502"/>
                  </a:cubicBezTo>
                  <a:lnTo>
                    <a:pt x="0" y="28242"/>
                  </a:lnTo>
                  <a:cubicBezTo>
                    <a:pt x="0" y="20752"/>
                    <a:pt x="2975" y="13568"/>
                    <a:pt x="8272" y="8272"/>
                  </a:cubicBezTo>
                  <a:cubicBezTo>
                    <a:pt x="13568" y="2975"/>
                    <a:pt x="20752" y="0"/>
                    <a:pt x="28242" y="0"/>
                  </a:cubicBezTo>
                  <a:lnTo>
                    <a:pt x="1641841" y="0"/>
                  </a:lnTo>
                  <a:cubicBezTo>
                    <a:pt x="1649331" y="0"/>
                    <a:pt x="1656514" y="2975"/>
                    <a:pt x="1661811" y="8272"/>
                  </a:cubicBezTo>
                  <a:cubicBezTo>
                    <a:pt x="1667107" y="13568"/>
                    <a:pt x="1670083" y="20752"/>
                    <a:pt x="1670083" y="28242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70082" cy="1207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41061" y="2061592"/>
            <a:ext cx="5304596" cy="7936129"/>
          </a:xfrm>
          <a:custGeom>
            <a:avLst/>
            <a:gdLst/>
            <a:ahLst/>
            <a:cxnLst/>
            <a:rect r="r" b="b" t="t" l="l"/>
            <a:pathLst>
              <a:path h="7936129" w="5304596">
                <a:moveTo>
                  <a:pt x="0" y="0"/>
                </a:moveTo>
                <a:lnTo>
                  <a:pt x="5304596" y="0"/>
                </a:lnTo>
                <a:lnTo>
                  <a:pt x="5304596" y="7936129"/>
                </a:lnTo>
                <a:lnTo>
                  <a:pt x="0" y="79361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7456" b="-270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17248" y="2061592"/>
            <a:ext cx="5013061" cy="7936129"/>
          </a:xfrm>
          <a:custGeom>
            <a:avLst/>
            <a:gdLst/>
            <a:ahLst/>
            <a:cxnLst/>
            <a:rect r="r" b="b" t="t" l="l"/>
            <a:pathLst>
              <a:path h="7936129" w="5013061">
                <a:moveTo>
                  <a:pt x="0" y="0"/>
                </a:moveTo>
                <a:lnTo>
                  <a:pt x="5013061" y="0"/>
                </a:lnTo>
                <a:lnTo>
                  <a:pt x="5013061" y="7936129"/>
                </a:lnTo>
                <a:lnTo>
                  <a:pt x="0" y="7936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8529" y="262880"/>
            <a:ext cx="7146742" cy="103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Hasil / Output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74888" y="2228588"/>
            <a:ext cx="7045104" cy="5829824"/>
          </a:xfrm>
          <a:custGeom>
            <a:avLst/>
            <a:gdLst/>
            <a:ahLst/>
            <a:cxnLst/>
            <a:rect r="r" b="b" t="t" l="l"/>
            <a:pathLst>
              <a:path h="5829824" w="7045104">
                <a:moveTo>
                  <a:pt x="0" y="0"/>
                </a:moveTo>
                <a:lnTo>
                  <a:pt x="7045104" y="0"/>
                </a:lnTo>
                <a:lnTo>
                  <a:pt x="7045104" y="5829824"/>
                </a:lnTo>
                <a:lnTo>
                  <a:pt x="0" y="5829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9761" y="4141483"/>
            <a:ext cx="9047623" cy="3515792"/>
            <a:chOff x="0" y="0"/>
            <a:chExt cx="1670082" cy="6490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0083" cy="649058"/>
            </a:xfrm>
            <a:custGeom>
              <a:avLst/>
              <a:gdLst/>
              <a:ahLst/>
              <a:cxnLst/>
              <a:rect r="r" b="b" t="t" l="l"/>
              <a:pathLst>
                <a:path h="649058" w="1670083">
                  <a:moveTo>
                    <a:pt x="1670083" y="41929"/>
                  </a:moveTo>
                  <a:lnTo>
                    <a:pt x="1670083" y="607129"/>
                  </a:lnTo>
                  <a:cubicBezTo>
                    <a:pt x="1670083" y="618249"/>
                    <a:pt x="1665665" y="628914"/>
                    <a:pt x="1657802" y="636777"/>
                  </a:cubicBezTo>
                  <a:cubicBezTo>
                    <a:pt x="1649939" y="644640"/>
                    <a:pt x="1639274" y="649058"/>
                    <a:pt x="1628154" y="649058"/>
                  </a:cubicBezTo>
                  <a:lnTo>
                    <a:pt x="41929" y="649058"/>
                  </a:lnTo>
                  <a:cubicBezTo>
                    <a:pt x="30808" y="649058"/>
                    <a:pt x="20144" y="644640"/>
                    <a:pt x="12281" y="636777"/>
                  </a:cubicBezTo>
                  <a:cubicBezTo>
                    <a:pt x="4417" y="628914"/>
                    <a:pt x="0" y="618249"/>
                    <a:pt x="0" y="60712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70082" cy="687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12994" y="4895701"/>
            <a:ext cx="8580266" cy="23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9194" indent="-284597" lvl="1">
              <a:lnSpc>
                <a:spcPts val="3690"/>
              </a:lnSpc>
              <a:buFont typeface="Arial"/>
              <a:buChar char="•"/>
            </a:pPr>
            <a:r>
              <a:rPr lang="en-US" sz="26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parkir berjalan efisien dengan konsep  queue Linked List</a:t>
            </a:r>
          </a:p>
          <a:p>
            <a:pPr algn="just" marL="569194" indent="-284597" lvl="1">
              <a:lnSpc>
                <a:spcPts val="3690"/>
              </a:lnSpc>
              <a:buFont typeface="Arial"/>
              <a:buChar char="•"/>
            </a:pPr>
            <a:r>
              <a:rPr lang="en-US" sz="26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Antrian mengikuti prinsip FIFO</a:t>
            </a:r>
          </a:p>
          <a:p>
            <a:pPr algn="just" marL="569194" indent="-284597" lvl="1">
              <a:lnSpc>
                <a:spcPts val="3690"/>
              </a:lnSpc>
              <a:buFont typeface="Arial"/>
              <a:buChar char="•"/>
            </a:pPr>
            <a:r>
              <a:rPr lang="en-US" sz="26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kendaraan ditampilkan secara real-time</a:t>
            </a:r>
          </a:p>
          <a:p>
            <a:pPr algn="just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88975" y="2769042"/>
            <a:ext cx="7146742" cy="103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67843" y="3955211"/>
            <a:ext cx="8952313" cy="219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3"/>
              </a:lnSpc>
            </a:pPr>
            <a:r>
              <a:rPr lang="en-US" b="true" sz="102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ctr">
              <a:lnSpc>
                <a:spcPts val="7233"/>
              </a:lnSpc>
            </a:pPr>
            <a:r>
              <a:rPr lang="en-US" b="true" sz="45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797224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struktur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11960" y="8797224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antrean parkir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575" y="691565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INFINITY TEAM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DAHG0-jEy8M</dc:identifier>
  <dcterms:modified xsi:type="dcterms:W3CDTF">2011-08-01T06:04:30Z</dcterms:modified>
  <cp:revision>1</cp:revision>
  <dc:title>UTS STRUKTUR DATA</dc:title>
</cp:coreProperties>
</file>