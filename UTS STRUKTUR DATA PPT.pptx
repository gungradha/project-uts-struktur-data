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0.svg" ContentType="image/svg+xml"/>
  <Override PartName="/ppt/media/image14.svg" ContentType="image/svg+xml"/>
  <Override PartName="/ppt/media/image3.svg" ContentType="image/svg+xml"/>
  <Override PartName="/ppt/media/image30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8288000" cy="10287000"/>
  <p:notesSz cx="6858000" cy="9144000"/>
  <p:embeddedFontLst>
    <p:embeddedFont>
      <p:font typeface="Poppins Bold" panose="00000800000000000000"/>
      <p:bold r:id="rId25"/>
    </p:embeddedFont>
    <p:embeddedFont>
      <p:font typeface="Poppins" panose="00000500000000000000"/>
      <p:regular r:id="rId26"/>
    </p:embeddedFont>
    <p:embeddedFont>
      <p:font typeface="Poppins Ultra-Bold" panose="00000900000000000000"/>
      <p:bold r:id="rId27"/>
    </p:embeddedFont>
    <p:embeddedFont>
      <p:font typeface="Canva Sans" panose="020B0503030501040103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12.png"/><Relationship Id="rId4" Type="http://schemas.openxmlformats.org/officeDocument/2006/relationships/image" Target="../media/image11.jpe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0.svg"/><Relationship Id="rId6" Type="http://schemas.openxmlformats.org/officeDocument/2006/relationships/image" Target="../media/image12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8.svg"/><Relationship Id="rId4" Type="http://schemas.openxmlformats.org/officeDocument/2006/relationships/image" Target="../media/image15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8.svg"/><Relationship Id="rId4" Type="http://schemas.openxmlformats.org/officeDocument/2006/relationships/image" Target="../media/image15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8.svg"/><Relationship Id="rId4" Type="http://schemas.openxmlformats.org/officeDocument/2006/relationships/image" Target="../media/image15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8.jpe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8.svg"/><Relationship Id="rId4" Type="http://schemas.openxmlformats.org/officeDocument/2006/relationships/image" Target="../media/image15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8.svg"/><Relationship Id="rId4" Type="http://schemas.openxmlformats.org/officeDocument/2006/relationships/image" Target="../media/image15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8.svg"/><Relationship Id="rId4" Type="http://schemas.openxmlformats.org/officeDocument/2006/relationships/image" Target="../media/image15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5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10.svg"/><Relationship Id="rId4" Type="http://schemas.openxmlformats.org/officeDocument/2006/relationships/image" Target="../media/image12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12.png"/><Relationship Id="rId4" Type="http://schemas.openxmlformats.org/officeDocument/2006/relationships/image" Target="../media/image28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svg"/><Relationship Id="rId6" Type="http://schemas.openxmlformats.org/officeDocument/2006/relationships/image" Target="../media/image15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90000"/>
                  </a:srgbClr>
                </a:gs>
                <a:gs pos="100000">
                  <a:srgbClr val="001496">
                    <a:alpha val="9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2278626" y="2205781"/>
            <a:ext cx="13730749" cy="5393168"/>
            <a:chOff x="0" y="0"/>
            <a:chExt cx="3616329" cy="14204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6329" cy="1420423"/>
            </a:xfrm>
            <a:custGeom>
              <a:avLst/>
              <a:gdLst/>
              <a:ahLst/>
              <a:cxnLst/>
              <a:rect l="l" t="t" r="r" b="b"/>
              <a:pathLst>
                <a:path w="3616329" h="1420423">
                  <a:moveTo>
                    <a:pt x="53001" y="0"/>
                  </a:moveTo>
                  <a:lnTo>
                    <a:pt x="3563328" y="0"/>
                  </a:lnTo>
                  <a:cubicBezTo>
                    <a:pt x="3577385" y="0"/>
                    <a:pt x="3590866" y="5584"/>
                    <a:pt x="3600805" y="15524"/>
                  </a:cubicBezTo>
                  <a:cubicBezTo>
                    <a:pt x="3610745" y="25463"/>
                    <a:pt x="3616329" y="38944"/>
                    <a:pt x="3616329" y="53001"/>
                  </a:cubicBezTo>
                  <a:lnTo>
                    <a:pt x="3616329" y="1367422"/>
                  </a:lnTo>
                  <a:cubicBezTo>
                    <a:pt x="3616329" y="1396694"/>
                    <a:pt x="3592600" y="1420423"/>
                    <a:pt x="3563328" y="1420423"/>
                  </a:cubicBezTo>
                  <a:lnTo>
                    <a:pt x="53001" y="1420423"/>
                  </a:lnTo>
                  <a:cubicBezTo>
                    <a:pt x="23729" y="1420423"/>
                    <a:pt x="0" y="1396694"/>
                    <a:pt x="0" y="1367422"/>
                  </a:cubicBezTo>
                  <a:lnTo>
                    <a:pt x="0" y="53001"/>
                  </a:lnTo>
                  <a:cubicBezTo>
                    <a:pt x="0" y="23729"/>
                    <a:pt x="23729" y="0"/>
                    <a:pt x="53001" y="0"/>
                  </a:cubicBezTo>
                  <a:close/>
                </a:path>
              </a:pathLst>
            </a:custGeom>
            <a:solidFill>
              <a:srgbClr val="444963">
                <a:alpha val="6588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616329" cy="1458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432445" y="3121846"/>
            <a:ext cx="9506732" cy="1974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809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PROGRAM ANTREAN PARKIR</a:t>
            </a:r>
            <a:endParaRPr lang="en-US" sz="809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816407" y="5434857"/>
            <a:ext cx="11222093" cy="113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0"/>
              </a:lnSpc>
            </a:pPr>
            <a:r>
              <a:rPr lang="en-US" sz="630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Projek UTS STRUKTUR DATA</a:t>
            </a:r>
            <a:endParaRPr lang="en-US" sz="630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90000"/>
                  </a:srgbClr>
                </a:gs>
                <a:gs pos="100000">
                  <a:srgbClr val="001496">
                    <a:alpha val="9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028700" y="2205781"/>
            <a:ext cx="16230600" cy="5905915"/>
            <a:chOff x="0" y="0"/>
            <a:chExt cx="4274726" cy="15554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74726" cy="1555467"/>
            </a:xfrm>
            <a:custGeom>
              <a:avLst/>
              <a:gdLst/>
              <a:ahLst/>
              <a:cxnLst/>
              <a:rect l="l" t="t" r="r" b="b"/>
              <a:pathLst>
                <a:path w="4274726" h="1555467">
                  <a:moveTo>
                    <a:pt x="44838" y="0"/>
                  </a:moveTo>
                  <a:lnTo>
                    <a:pt x="4229888" y="0"/>
                  </a:lnTo>
                  <a:cubicBezTo>
                    <a:pt x="4254652" y="0"/>
                    <a:pt x="4274726" y="20074"/>
                    <a:pt x="4274726" y="44838"/>
                  </a:cubicBezTo>
                  <a:lnTo>
                    <a:pt x="4274726" y="1510630"/>
                  </a:lnTo>
                  <a:cubicBezTo>
                    <a:pt x="4274726" y="1522522"/>
                    <a:pt x="4270002" y="1533926"/>
                    <a:pt x="4261593" y="1542335"/>
                  </a:cubicBezTo>
                  <a:cubicBezTo>
                    <a:pt x="4253185" y="1550744"/>
                    <a:pt x="4241780" y="1555467"/>
                    <a:pt x="4229888" y="1555467"/>
                  </a:cubicBezTo>
                  <a:lnTo>
                    <a:pt x="44838" y="1555467"/>
                  </a:lnTo>
                  <a:cubicBezTo>
                    <a:pt x="32946" y="1555467"/>
                    <a:pt x="21541" y="1550744"/>
                    <a:pt x="13133" y="1542335"/>
                  </a:cubicBezTo>
                  <a:cubicBezTo>
                    <a:pt x="4724" y="1533926"/>
                    <a:pt x="0" y="1522522"/>
                    <a:pt x="0" y="1510630"/>
                  </a:cubicBezTo>
                  <a:lnTo>
                    <a:pt x="0" y="44838"/>
                  </a:lnTo>
                  <a:cubicBezTo>
                    <a:pt x="0" y="32946"/>
                    <a:pt x="4724" y="21541"/>
                    <a:pt x="13133" y="13133"/>
                  </a:cubicBezTo>
                  <a:cubicBezTo>
                    <a:pt x="21541" y="4724"/>
                    <a:pt x="32946" y="0"/>
                    <a:pt x="44838" y="0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274726" cy="1593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830525" y="2907546"/>
            <a:ext cx="4626949" cy="51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65"/>
              </a:lnSpc>
            </a:pPr>
            <a:r>
              <a:rPr lang="en-US" sz="394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NAMA KELOMPOK:</a:t>
            </a:r>
            <a:endParaRPr lang="en-US" sz="394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215797" y="4195483"/>
            <a:ext cx="13856407" cy="2755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05"/>
              </a:lnSpc>
            </a:pPr>
            <a:r>
              <a:rPr lang="en-US" sz="3940" b="1" spc="433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NI PUTU VIRA ARTIKA DEWI (2501010377)</a:t>
            </a:r>
            <a:endParaRPr lang="en-US" sz="3940" b="1" spc="433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7405"/>
              </a:lnSpc>
            </a:pPr>
            <a:r>
              <a:rPr lang="en-US" sz="3940" b="1" spc="433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ANAK AGUNG RADHA NOVIANTI (2501010378)</a:t>
            </a:r>
            <a:endParaRPr lang="en-US" sz="3940" b="1" spc="433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7405"/>
              </a:lnSpc>
            </a:pPr>
            <a:r>
              <a:rPr lang="en-US" sz="3940" b="1" spc="433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NI MADE NIA PARAMITA (2501010376)</a:t>
            </a:r>
            <a:endParaRPr lang="en-US" sz="3940" b="1" spc="433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94512" y="2520315"/>
            <a:ext cx="5961378" cy="6318882"/>
            <a:chOff x="0" y="0"/>
            <a:chExt cx="923573" cy="978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23573" cy="978960"/>
            </a:xfrm>
            <a:custGeom>
              <a:avLst/>
              <a:gdLst/>
              <a:ahLst/>
              <a:cxnLst/>
              <a:rect l="l" t="t" r="r" b="b"/>
              <a:pathLst>
                <a:path w="923573" h="978960">
                  <a:moveTo>
                    <a:pt x="103894" y="0"/>
                  </a:moveTo>
                  <a:lnTo>
                    <a:pt x="819679" y="0"/>
                  </a:lnTo>
                  <a:cubicBezTo>
                    <a:pt x="847233" y="0"/>
                    <a:pt x="873659" y="10946"/>
                    <a:pt x="893143" y="30430"/>
                  </a:cubicBezTo>
                  <a:cubicBezTo>
                    <a:pt x="912627" y="49914"/>
                    <a:pt x="923573" y="76340"/>
                    <a:pt x="923573" y="103894"/>
                  </a:cubicBezTo>
                  <a:lnTo>
                    <a:pt x="923573" y="875066"/>
                  </a:lnTo>
                  <a:cubicBezTo>
                    <a:pt x="923573" y="902620"/>
                    <a:pt x="912627" y="929046"/>
                    <a:pt x="893143" y="948530"/>
                  </a:cubicBezTo>
                  <a:cubicBezTo>
                    <a:pt x="873659" y="968014"/>
                    <a:pt x="847233" y="978960"/>
                    <a:pt x="819679" y="978960"/>
                  </a:cubicBezTo>
                  <a:lnTo>
                    <a:pt x="103894" y="978960"/>
                  </a:lnTo>
                  <a:cubicBezTo>
                    <a:pt x="76340" y="978960"/>
                    <a:pt x="49914" y="968014"/>
                    <a:pt x="30430" y="948530"/>
                  </a:cubicBezTo>
                  <a:cubicBezTo>
                    <a:pt x="10946" y="929046"/>
                    <a:pt x="0" y="902620"/>
                    <a:pt x="0" y="875066"/>
                  </a:cubicBezTo>
                  <a:lnTo>
                    <a:pt x="0" y="103894"/>
                  </a:lnTo>
                  <a:cubicBezTo>
                    <a:pt x="0" y="76340"/>
                    <a:pt x="10946" y="49914"/>
                    <a:pt x="30430" y="30430"/>
                  </a:cubicBezTo>
                  <a:cubicBezTo>
                    <a:pt x="49914" y="10946"/>
                    <a:pt x="76340" y="0"/>
                    <a:pt x="103894" y="0"/>
                  </a:cubicBezTo>
                  <a:close/>
                </a:path>
              </a:pathLst>
            </a:custGeom>
            <a:blipFill>
              <a:blip r:embed="rId4"/>
              <a:stretch>
                <a:fillRect l="-29547" r="-29547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</p:grpSp>
      <p:sp>
        <p:nvSpPr>
          <p:cNvPr id="9" name="Freeform 9"/>
          <p:cNvSpPr/>
          <p:nvPr/>
        </p:nvSpPr>
        <p:spPr>
          <a:xfrm>
            <a:off x="8029515" y="-1031595"/>
            <a:ext cx="12370599" cy="1799360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465286" y="7200900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921316" y="2793540"/>
            <a:ext cx="7879312" cy="252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415"/>
              </a:lnSpc>
            </a:pPr>
            <a:r>
              <a:rPr lang="en-US" sz="905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Latar Belakang</a:t>
            </a:r>
            <a:endParaRPr lang="en-US" sz="905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12" name="Group 12"/>
          <p:cNvGrpSpPr/>
          <p:nvPr/>
        </p:nvGrpSpPr>
        <p:grpSpPr>
          <a:xfrm rot="0">
            <a:off x="8792300" y="5581572"/>
            <a:ext cx="8356326" cy="2761774"/>
            <a:chOff x="0" y="0"/>
            <a:chExt cx="2200783" cy="7274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0783" cy="727456"/>
            </a:xfrm>
            <a:custGeom>
              <a:avLst/>
              <a:gdLst/>
              <a:ahLst/>
              <a:cxnLst/>
              <a:rect l="l" t="t" r="r" b="b"/>
              <a:pathLst>
                <a:path w="2200783" h="727456">
                  <a:moveTo>
                    <a:pt x="2200783" y="45397"/>
                  </a:moveTo>
                  <a:lnTo>
                    <a:pt x="2200783" y="682059"/>
                  </a:lnTo>
                  <a:cubicBezTo>
                    <a:pt x="2200783" y="694099"/>
                    <a:pt x="2196000" y="705646"/>
                    <a:pt x="2187486" y="714159"/>
                  </a:cubicBezTo>
                  <a:cubicBezTo>
                    <a:pt x="2178973" y="722673"/>
                    <a:pt x="2167426" y="727456"/>
                    <a:pt x="2155386" y="727456"/>
                  </a:cubicBezTo>
                  <a:lnTo>
                    <a:pt x="45397" y="727456"/>
                  </a:lnTo>
                  <a:cubicBezTo>
                    <a:pt x="33357" y="727456"/>
                    <a:pt x="21810" y="722673"/>
                    <a:pt x="13297" y="714159"/>
                  </a:cubicBezTo>
                  <a:cubicBezTo>
                    <a:pt x="4783" y="705646"/>
                    <a:pt x="0" y="694099"/>
                    <a:pt x="0" y="682059"/>
                  </a:cubicBezTo>
                  <a:lnTo>
                    <a:pt x="0" y="45397"/>
                  </a:lnTo>
                  <a:cubicBezTo>
                    <a:pt x="0" y="33357"/>
                    <a:pt x="4783" y="21810"/>
                    <a:pt x="13297" y="13297"/>
                  </a:cubicBezTo>
                  <a:cubicBezTo>
                    <a:pt x="21810" y="4783"/>
                    <a:pt x="33357" y="0"/>
                    <a:pt x="45397" y="0"/>
                  </a:cubicBezTo>
                  <a:lnTo>
                    <a:pt x="2155386" y="0"/>
                  </a:lnTo>
                  <a:cubicBezTo>
                    <a:pt x="2167426" y="0"/>
                    <a:pt x="2178973" y="4783"/>
                    <a:pt x="2187486" y="13297"/>
                  </a:cubicBezTo>
                  <a:cubicBezTo>
                    <a:pt x="2196000" y="21810"/>
                    <a:pt x="2200783" y="33357"/>
                    <a:pt x="2200783" y="45397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00783" cy="765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921316" y="5613081"/>
            <a:ext cx="8227309" cy="2693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Program yang kami buat yaitu program antrean parkir. </a:t>
            </a:r>
            <a:endParaRPr lang="en-US" sz="2500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Dibuat untuk memenuhi projek UTS mata kuliah STRUKTUR DATA.</a:t>
            </a:r>
            <a:endParaRPr lang="en-US" sz="2500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Jumlah kendaraan meningkat → butuh sistem parkir </a:t>
            </a:r>
            <a:endParaRPr lang="en-US" sz="2500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1375693" y="1864951"/>
            <a:ext cx="5389372" cy="6508903"/>
            <a:chOff x="0" y="0"/>
            <a:chExt cx="834955" cy="10083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4955" cy="1008399"/>
            </a:xfrm>
            <a:custGeom>
              <a:avLst/>
              <a:gdLst/>
              <a:ahLst/>
              <a:cxnLst/>
              <a:rect l="l" t="t" r="r" b="b"/>
              <a:pathLst>
                <a:path w="834955" h="1008399">
                  <a:moveTo>
                    <a:pt x="114921" y="0"/>
                  </a:moveTo>
                  <a:lnTo>
                    <a:pt x="720033" y="0"/>
                  </a:lnTo>
                  <a:cubicBezTo>
                    <a:pt x="750512" y="0"/>
                    <a:pt x="779743" y="12108"/>
                    <a:pt x="801295" y="33660"/>
                  </a:cubicBezTo>
                  <a:cubicBezTo>
                    <a:pt x="822847" y="55212"/>
                    <a:pt x="834955" y="84442"/>
                    <a:pt x="834955" y="114921"/>
                  </a:cubicBezTo>
                  <a:lnTo>
                    <a:pt x="834955" y="893478"/>
                  </a:lnTo>
                  <a:cubicBezTo>
                    <a:pt x="834955" y="956947"/>
                    <a:pt x="783503" y="1008399"/>
                    <a:pt x="720033" y="1008399"/>
                  </a:cubicBezTo>
                  <a:lnTo>
                    <a:pt x="114921" y="1008399"/>
                  </a:lnTo>
                  <a:cubicBezTo>
                    <a:pt x="84442" y="1008399"/>
                    <a:pt x="55212" y="996292"/>
                    <a:pt x="33660" y="974740"/>
                  </a:cubicBezTo>
                  <a:cubicBezTo>
                    <a:pt x="12108" y="953188"/>
                    <a:pt x="0" y="923957"/>
                    <a:pt x="0" y="893478"/>
                  </a:cubicBezTo>
                  <a:lnTo>
                    <a:pt x="0" y="114921"/>
                  </a:lnTo>
                  <a:cubicBezTo>
                    <a:pt x="0" y="84442"/>
                    <a:pt x="12108" y="55212"/>
                    <a:pt x="33660" y="33660"/>
                  </a:cubicBezTo>
                  <a:cubicBezTo>
                    <a:pt x="55212" y="12108"/>
                    <a:pt x="84442" y="0"/>
                    <a:pt x="114921" y="0"/>
                  </a:cubicBezTo>
                  <a:close/>
                </a:path>
              </a:pathLst>
            </a:custGeom>
            <a:blipFill>
              <a:blip r:embed="rId4"/>
              <a:stretch>
                <a:fillRect l="-91735" r="-2277"/>
              </a:stretch>
            </a:blipFill>
            <a:ln w="323850" cap="rnd">
              <a:gradFill>
                <a:gsLst>
                  <a:gs pos="0">
                    <a:srgbClr val="00D1FF">
                      <a:alpha val="100000"/>
                    </a:srgbClr>
                  </a:gs>
                  <a:gs pos="100000">
                    <a:srgbClr val="001496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</p:grpSp>
      <p:sp>
        <p:nvSpPr>
          <p:cNvPr id="9" name="Freeform 9"/>
          <p:cNvSpPr/>
          <p:nvPr/>
        </p:nvSpPr>
        <p:spPr>
          <a:xfrm>
            <a:off x="15201900" y="-2854591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51077" y="2203208"/>
            <a:ext cx="8487068" cy="2517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15"/>
              </a:lnSpc>
            </a:pPr>
            <a:r>
              <a:rPr lang="en-US" sz="905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Rumusan Masalah</a:t>
            </a:r>
            <a:endParaRPr lang="en-US" sz="905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722342" y="5119402"/>
            <a:ext cx="9553599" cy="3976847"/>
            <a:chOff x="0" y="0"/>
            <a:chExt cx="2200783" cy="9162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0783" cy="916233"/>
            </a:xfrm>
            <a:custGeom>
              <a:avLst/>
              <a:gdLst/>
              <a:ahLst/>
              <a:cxnLst/>
              <a:rect l="l" t="t" r="r" b="b"/>
              <a:pathLst>
                <a:path w="2200783" h="916233">
                  <a:moveTo>
                    <a:pt x="2200783" y="39708"/>
                  </a:moveTo>
                  <a:lnTo>
                    <a:pt x="2200783" y="876525"/>
                  </a:lnTo>
                  <a:cubicBezTo>
                    <a:pt x="2200783" y="887056"/>
                    <a:pt x="2196599" y="897156"/>
                    <a:pt x="2189153" y="904603"/>
                  </a:cubicBezTo>
                  <a:cubicBezTo>
                    <a:pt x="2181706" y="912049"/>
                    <a:pt x="2171606" y="916233"/>
                    <a:pt x="2161075" y="916233"/>
                  </a:cubicBezTo>
                  <a:lnTo>
                    <a:pt x="39708" y="916233"/>
                  </a:lnTo>
                  <a:cubicBezTo>
                    <a:pt x="29177" y="916233"/>
                    <a:pt x="19077" y="912049"/>
                    <a:pt x="11630" y="904603"/>
                  </a:cubicBezTo>
                  <a:cubicBezTo>
                    <a:pt x="4184" y="897156"/>
                    <a:pt x="0" y="887056"/>
                    <a:pt x="0" y="876525"/>
                  </a:cubicBezTo>
                  <a:lnTo>
                    <a:pt x="0" y="39708"/>
                  </a:lnTo>
                  <a:cubicBezTo>
                    <a:pt x="0" y="29177"/>
                    <a:pt x="4184" y="19077"/>
                    <a:pt x="11630" y="11630"/>
                  </a:cubicBezTo>
                  <a:cubicBezTo>
                    <a:pt x="19077" y="4184"/>
                    <a:pt x="29177" y="0"/>
                    <a:pt x="39708" y="0"/>
                  </a:cubicBezTo>
                  <a:lnTo>
                    <a:pt x="2161075" y="0"/>
                  </a:lnTo>
                  <a:cubicBezTo>
                    <a:pt x="2171606" y="0"/>
                    <a:pt x="2181706" y="4184"/>
                    <a:pt x="2189153" y="11630"/>
                  </a:cubicBezTo>
                  <a:cubicBezTo>
                    <a:pt x="2196599" y="19077"/>
                    <a:pt x="2200783" y="29177"/>
                    <a:pt x="2200783" y="39708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200783" cy="954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09126" y="5298897"/>
            <a:ext cx="9180030" cy="433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1995" lvl="1" indent="-360680" algn="l">
              <a:lnSpc>
                <a:spcPts val="4680"/>
              </a:lnSpc>
              <a:buFont typeface="Arial" panose="020B0604020202020204"/>
              <a:buChar char="•"/>
            </a:pPr>
            <a:r>
              <a:rPr lang="en-US" sz="334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Bagimanam mengatur antrian kendaraan (FIFO) ?</a:t>
            </a:r>
            <a:endParaRPr lang="en-US" sz="334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721995" lvl="1" indent="-360680" algn="just">
              <a:lnSpc>
                <a:spcPts val="4680"/>
              </a:lnSpc>
              <a:buFont typeface="Arial" panose="020B0604020202020204"/>
              <a:buChar char="•"/>
            </a:pPr>
            <a:r>
              <a:rPr lang="en-US" sz="334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Bagimana  m</a:t>
            </a:r>
            <a:r>
              <a:rPr lang="en-US" sz="334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embatasi kapasitas parkir (Linked List) ?</a:t>
            </a:r>
            <a:endParaRPr lang="en-US" sz="334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721995" lvl="1" indent="-360680" algn="just">
              <a:lnSpc>
                <a:spcPts val="4680"/>
              </a:lnSpc>
              <a:buFont typeface="Arial" panose="020B0604020202020204"/>
              <a:buChar char="•"/>
            </a:pPr>
            <a:r>
              <a:rPr lang="en-US" sz="334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Bagimana m</a:t>
            </a:r>
            <a:r>
              <a:rPr lang="en-US" sz="334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enampilkan data secara real-time ?</a:t>
            </a:r>
            <a:endParaRPr lang="en-US" sz="334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5760"/>
              </a:lnSpc>
              <a:spcBef>
                <a:spcPct val="0"/>
              </a:spcBef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46975" y="2175823"/>
            <a:ext cx="5902319" cy="5902319"/>
          </a:xfrm>
          <a:custGeom>
            <a:avLst/>
            <a:gdLst/>
            <a:ahLst/>
            <a:cxnLst/>
            <a:rect l="l" t="t" r="r" b="b"/>
            <a:pathLst>
              <a:path w="5902319" h="5902319">
                <a:moveTo>
                  <a:pt x="0" y="0"/>
                </a:moveTo>
                <a:lnTo>
                  <a:pt x="5902320" y="0"/>
                </a:lnTo>
                <a:lnTo>
                  <a:pt x="5902320" y="5902320"/>
                </a:lnTo>
                <a:lnTo>
                  <a:pt x="0" y="5902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94079" y="2609411"/>
            <a:ext cx="8487068" cy="132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15"/>
              </a:lnSpc>
            </a:pPr>
            <a:r>
              <a:rPr lang="en-US" sz="905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Tujuan</a:t>
            </a:r>
            <a:endParaRPr lang="en-US" sz="905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-1323699" y="9239250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201900" y="-2854591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893792" y="4745764"/>
            <a:ext cx="9650533" cy="3531112"/>
            <a:chOff x="0" y="0"/>
            <a:chExt cx="2200783" cy="8053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0783" cy="805368"/>
            </a:xfrm>
            <a:custGeom>
              <a:avLst/>
              <a:gdLst/>
              <a:ahLst/>
              <a:cxnLst/>
              <a:rect l="l" t="t" r="r" b="b"/>
              <a:pathLst>
                <a:path w="2200783" h="805368">
                  <a:moveTo>
                    <a:pt x="2200783" y="39309"/>
                  </a:moveTo>
                  <a:lnTo>
                    <a:pt x="2200783" y="766059"/>
                  </a:lnTo>
                  <a:cubicBezTo>
                    <a:pt x="2200783" y="787768"/>
                    <a:pt x="2183184" y="805368"/>
                    <a:pt x="2161474" y="805368"/>
                  </a:cubicBezTo>
                  <a:lnTo>
                    <a:pt x="39309" y="805368"/>
                  </a:lnTo>
                  <a:cubicBezTo>
                    <a:pt x="17599" y="805368"/>
                    <a:pt x="0" y="787768"/>
                    <a:pt x="0" y="766059"/>
                  </a:cubicBezTo>
                  <a:lnTo>
                    <a:pt x="0" y="39309"/>
                  </a:lnTo>
                  <a:cubicBezTo>
                    <a:pt x="0" y="17599"/>
                    <a:pt x="17599" y="0"/>
                    <a:pt x="39309" y="0"/>
                  </a:cubicBezTo>
                  <a:lnTo>
                    <a:pt x="2161474" y="0"/>
                  </a:lnTo>
                  <a:cubicBezTo>
                    <a:pt x="2171899" y="0"/>
                    <a:pt x="2181898" y="4141"/>
                    <a:pt x="2189269" y="11513"/>
                  </a:cubicBezTo>
                  <a:cubicBezTo>
                    <a:pt x="2196642" y="18885"/>
                    <a:pt x="2200783" y="28884"/>
                    <a:pt x="2200783" y="3930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00783" cy="843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53230" y="4911507"/>
            <a:ext cx="9119645" cy="3166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3590" lvl="1" indent="-391795" algn="l">
              <a:lnSpc>
                <a:spcPts val="5080"/>
              </a:lnSpc>
              <a:buFont typeface="Arial" panose="020B0604020202020204"/>
              <a:buChar char="•"/>
            </a:pPr>
            <a:r>
              <a:rPr lang="en-US" sz="363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Menerapkan sistem queue linked list pada sistem parkir</a:t>
            </a:r>
            <a:endParaRPr lang="en-US" sz="363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783590" lvl="1" indent="-391795" algn="l">
              <a:lnSpc>
                <a:spcPts val="5080"/>
              </a:lnSpc>
              <a:buFont typeface="Arial" panose="020B0604020202020204"/>
              <a:buChar char="•"/>
            </a:pPr>
            <a:r>
              <a:rPr lang="en-US" sz="363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Mengatur antrian kendaraan (FIFO)</a:t>
            </a:r>
            <a:endParaRPr lang="en-US" sz="363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783590" lvl="1" indent="-391795" algn="l">
              <a:lnSpc>
                <a:spcPts val="5080"/>
              </a:lnSpc>
              <a:buFont typeface="Arial" panose="020B0604020202020204"/>
              <a:buChar char="•"/>
            </a:pPr>
            <a:r>
              <a:rPr lang="en-US" sz="363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Menyediakan informasi parkir secara efisien</a:t>
            </a:r>
            <a:endParaRPr lang="en-US" sz="363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8270554" y="3755447"/>
            <a:ext cx="9393639" cy="4209169"/>
            <a:chOff x="0" y="0"/>
            <a:chExt cx="1797111" cy="8053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97111" cy="805368"/>
            </a:xfrm>
            <a:custGeom>
              <a:avLst/>
              <a:gdLst/>
              <a:ahLst/>
              <a:cxnLst/>
              <a:rect l="l" t="t" r="r" b="b"/>
              <a:pathLst>
                <a:path w="1797111" h="805368">
                  <a:moveTo>
                    <a:pt x="1797111" y="40384"/>
                  </a:moveTo>
                  <a:lnTo>
                    <a:pt x="1797111" y="764984"/>
                  </a:lnTo>
                  <a:cubicBezTo>
                    <a:pt x="1797111" y="787287"/>
                    <a:pt x="1779030" y="805368"/>
                    <a:pt x="1756727" y="805368"/>
                  </a:cubicBezTo>
                  <a:lnTo>
                    <a:pt x="40384" y="805368"/>
                  </a:lnTo>
                  <a:cubicBezTo>
                    <a:pt x="18081" y="805368"/>
                    <a:pt x="0" y="787287"/>
                    <a:pt x="0" y="764984"/>
                  </a:cubicBezTo>
                  <a:lnTo>
                    <a:pt x="0" y="40384"/>
                  </a:lnTo>
                  <a:cubicBezTo>
                    <a:pt x="0" y="18081"/>
                    <a:pt x="18081" y="0"/>
                    <a:pt x="40384" y="0"/>
                  </a:cubicBezTo>
                  <a:lnTo>
                    <a:pt x="1756727" y="0"/>
                  </a:lnTo>
                  <a:cubicBezTo>
                    <a:pt x="1779030" y="0"/>
                    <a:pt x="1797111" y="18081"/>
                    <a:pt x="1797111" y="40384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97111" cy="843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8550902" y="-1153431"/>
            <a:ext cx="12370599" cy="1799360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-1503036" y="9910023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722342" y="4632526"/>
            <a:ext cx="6511736" cy="3350591"/>
          </a:xfrm>
          <a:custGeom>
            <a:avLst/>
            <a:gdLst/>
            <a:ahLst/>
            <a:cxnLst/>
            <a:rect l="l" t="t" r="r" b="b"/>
            <a:pathLst>
              <a:path w="6511736" h="3350591">
                <a:moveTo>
                  <a:pt x="0" y="0"/>
                </a:moveTo>
                <a:lnTo>
                  <a:pt x="6511736" y="0"/>
                </a:lnTo>
                <a:lnTo>
                  <a:pt x="6511736" y="3350592"/>
                </a:lnTo>
                <a:lnTo>
                  <a:pt x="0" y="3350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464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270554" y="2057255"/>
            <a:ext cx="5986233" cy="98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670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Konsep Teori</a:t>
            </a:r>
            <a:endParaRPr lang="en-US" sz="670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937554" y="3968841"/>
            <a:ext cx="8059639" cy="429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5"/>
              </a:lnSpc>
            </a:pPr>
            <a:r>
              <a:rPr lang="en-US" sz="346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Queue (Antrian)</a:t>
            </a:r>
            <a:endParaRPr lang="en-US" sz="346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4855"/>
              </a:lnSpc>
            </a:pPr>
            <a:r>
              <a:rPr lang="en-US" sz="346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Struktur data yang menyimpan data secara berurutan seperti antrian.</a:t>
            </a:r>
            <a:endParaRPr lang="en-US" sz="346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855"/>
              </a:lnSpc>
              <a:spcBef>
                <a:spcPct val="0"/>
              </a:spcBef>
            </a:pPr>
            <a:r>
              <a:rPr lang="en-US" sz="346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➡️ Data masuk dari belakang, keluar dari depan.</a:t>
            </a:r>
            <a:endParaRPr lang="en-US" sz="346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855"/>
              </a:lnSpc>
              <a:spcBef>
                <a:spcPct val="0"/>
              </a:spcBef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8550902" y="4095413"/>
            <a:ext cx="8708398" cy="4340858"/>
            <a:chOff x="0" y="0"/>
            <a:chExt cx="1615475" cy="8053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15475" cy="805368"/>
            </a:xfrm>
            <a:custGeom>
              <a:avLst/>
              <a:gdLst/>
              <a:ahLst/>
              <a:cxnLst/>
              <a:rect l="l" t="t" r="r" b="b"/>
              <a:pathLst>
                <a:path w="1615475" h="805368">
                  <a:moveTo>
                    <a:pt x="1615475" y="43562"/>
                  </a:moveTo>
                  <a:lnTo>
                    <a:pt x="1615475" y="761806"/>
                  </a:lnTo>
                  <a:cubicBezTo>
                    <a:pt x="1615475" y="785864"/>
                    <a:pt x="1595971" y="805368"/>
                    <a:pt x="1571913" y="805368"/>
                  </a:cubicBezTo>
                  <a:lnTo>
                    <a:pt x="43562" y="805368"/>
                  </a:lnTo>
                  <a:cubicBezTo>
                    <a:pt x="19503" y="805368"/>
                    <a:pt x="0" y="785864"/>
                    <a:pt x="0" y="761806"/>
                  </a:cubicBezTo>
                  <a:lnTo>
                    <a:pt x="0" y="43562"/>
                  </a:lnTo>
                  <a:cubicBezTo>
                    <a:pt x="0" y="19503"/>
                    <a:pt x="19503" y="0"/>
                    <a:pt x="43562" y="0"/>
                  </a:cubicBezTo>
                  <a:lnTo>
                    <a:pt x="1571913" y="0"/>
                  </a:lnTo>
                  <a:cubicBezTo>
                    <a:pt x="1595971" y="0"/>
                    <a:pt x="1615475" y="19503"/>
                    <a:pt x="1615475" y="43562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15475" cy="843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8550902" y="-1153431"/>
            <a:ext cx="12370599" cy="1799360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-1503036" y="9910023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422729" y="3540603"/>
            <a:ext cx="5475940" cy="5039639"/>
          </a:xfrm>
          <a:custGeom>
            <a:avLst/>
            <a:gdLst/>
            <a:ahLst/>
            <a:cxnLst/>
            <a:rect l="l" t="t" r="r" b="b"/>
            <a:pathLst>
              <a:path w="5475940" h="5039639">
                <a:moveTo>
                  <a:pt x="0" y="0"/>
                </a:moveTo>
                <a:lnTo>
                  <a:pt x="5475941" y="0"/>
                </a:lnTo>
                <a:lnTo>
                  <a:pt x="5475941" y="5039639"/>
                </a:lnTo>
                <a:lnTo>
                  <a:pt x="0" y="5039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4316" t="-26412" r="-64316" b="-12706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550902" y="2457894"/>
            <a:ext cx="5986233" cy="98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670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Konsep Teori</a:t>
            </a:r>
            <a:endParaRPr lang="en-US" sz="670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169246" y="4604942"/>
            <a:ext cx="7471709" cy="380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05"/>
              </a:lnSpc>
            </a:pPr>
            <a:r>
              <a:rPr lang="en-US" sz="357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FIFO (First In First Out)</a:t>
            </a:r>
            <a:endParaRPr lang="en-US" sz="357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5005"/>
              </a:lnSpc>
            </a:pPr>
            <a:r>
              <a:rPr lang="en-US" sz="357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Konsep di mana data yang masuk terlebih dahulu akan keluar terlebih dahulu.</a:t>
            </a:r>
            <a:endParaRPr lang="en-US" sz="357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5005"/>
              </a:lnSpc>
              <a:spcBef>
                <a:spcPct val="0"/>
              </a:spcBef>
            </a:pPr>
            <a:r>
              <a:rPr lang="en-US" sz="357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➡️ Seperti antrian di kasir.</a:t>
            </a:r>
            <a:endParaRPr lang="en-US" sz="357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5005"/>
              </a:lnSpc>
              <a:spcBef>
                <a:spcPct val="0"/>
              </a:spcBef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7527826" y="3795218"/>
            <a:ext cx="9784698" cy="4490673"/>
            <a:chOff x="0" y="0"/>
            <a:chExt cx="1806138" cy="8290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06138" cy="829033"/>
            </a:xfrm>
            <a:custGeom>
              <a:avLst/>
              <a:gdLst/>
              <a:ahLst/>
              <a:cxnLst/>
              <a:rect l="l" t="t" r="r" b="b"/>
              <a:pathLst>
                <a:path w="1806138" h="829033">
                  <a:moveTo>
                    <a:pt x="1806138" y="38770"/>
                  </a:moveTo>
                  <a:lnTo>
                    <a:pt x="1806138" y="790263"/>
                  </a:lnTo>
                  <a:cubicBezTo>
                    <a:pt x="1806138" y="800545"/>
                    <a:pt x="1802053" y="810406"/>
                    <a:pt x="1794782" y="817677"/>
                  </a:cubicBezTo>
                  <a:cubicBezTo>
                    <a:pt x="1787511" y="824948"/>
                    <a:pt x="1777650" y="829033"/>
                    <a:pt x="1767368" y="829033"/>
                  </a:cubicBezTo>
                  <a:lnTo>
                    <a:pt x="38770" y="829033"/>
                  </a:lnTo>
                  <a:cubicBezTo>
                    <a:pt x="28488" y="829033"/>
                    <a:pt x="18626" y="824948"/>
                    <a:pt x="11356" y="817677"/>
                  </a:cubicBezTo>
                  <a:cubicBezTo>
                    <a:pt x="4085" y="810406"/>
                    <a:pt x="0" y="800545"/>
                    <a:pt x="0" y="790263"/>
                  </a:cubicBezTo>
                  <a:lnTo>
                    <a:pt x="0" y="38770"/>
                  </a:lnTo>
                  <a:cubicBezTo>
                    <a:pt x="0" y="28488"/>
                    <a:pt x="4085" y="18626"/>
                    <a:pt x="11356" y="11356"/>
                  </a:cubicBezTo>
                  <a:cubicBezTo>
                    <a:pt x="18626" y="4085"/>
                    <a:pt x="28488" y="0"/>
                    <a:pt x="38770" y="0"/>
                  </a:cubicBezTo>
                  <a:lnTo>
                    <a:pt x="1767368" y="0"/>
                  </a:lnTo>
                  <a:cubicBezTo>
                    <a:pt x="1788780" y="0"/>
                    <a:pt x="1806138" y="17358"/>
                    <a:pt x="1806138" y="38770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06138" cy="867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8550902" y="-1153431"/>
            <a:ext cx="12370599" cy="1799360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-1503036" y="9910023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0">
            <a:off x="14251134" y="9096249"/>
            <a:ext cx="286001" cy="28600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722342" y="4064384"/>
            <a:ext cx="5387796" cy="3779499"/>
          </a:xfrm>
          <a:custGeom>
            <a:avLst/>
            <a:gdLst/>
            <a:ahLst/>
            <a:cxnLst/>
            <a:rect l="l" t="t" r="r" b="b"/>
            <a:pathLst>
              <a:path w="5387796" h="3779499">
                <a:moveTo>
                  <a:pt x="0" y="0"/>
                </a:moveTo>
                <a:lnTo>
                  <a:pt x="5387796" y="0"/>
                </a:lnTo>
                <a:lnTo>
                  <a:pt x="5387796" y="3779499"/>
                </a:lnTo>
                <a:lnTo>
                  <a:pt x="0" y="37794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264901" y="2390834"/>
            <a:ext cx="5986233" cy="98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5"/>
              </a:lnSpc>
            </a:pPr>
            <a:r>
              <a:rPr lang="en-US" sz="670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Konsep Teori</a:t>
            </a:r>
            <a:endParaRPr lang="en-US" sz="670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880340" y="3959609"/>
            <a:ext cx="8948490" cy="444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0"/>
              </a:lnSpc>
            </a:pPr>
            <a:r>
              <a:rPr lang="en-US" sz="359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Linked List</a:t>
            </a:r>
            <a:endParaRPr lang="en-US" sz="359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5030"/>
              </a:lnSpc>
              <a:spcBef>
                <a:spcPct val="0"/>
              </a:spcBef>
            </a:pPr>
            <a:r>
              <a:rPr lang="en-US" sz="359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</a:t>
            </a:r>
            <a:r>
              <a:rPr lang="en-US" sz="359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nked list adalah salah satu struktur data dasar dalam pemrograman yang terdiri dari serangkaian elemen data yang terhubung satu sama lain menggunakan referensi atau pointer</a:t>
            </a:r>
            <a:endParaRPr lang="en-US" sz="359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5030"/>
              </a:lnSpc>
              <a:spcBef>
                <a:spcPct val="0"/>
              </a:spcBef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180712" y="0"/>
            <a:ext cx="8107288" cy="10287000"/>
          </a:xfrm>
          <a:custGeom>
            <a:avLst/>
            <a:gdLst/>
            <a:ahLst/>
            <a:cxnLst/>
            <a:rect l="l" t="t" r="r" b="b"/>
            <a:pathLst>
              <a:path w="8107288" h="10287000">
                <a:moveTo>
                  <a:pt x="0" y="0"/>
                </a:moveTo>
                <a:lnTo>
                  <a:pt x="8107288" y="0"/>
                </a:lnTo>
                <a:lnTo>
                  <a:pt x="81072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093" r="-309" b="-1356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346625"/>
            <a:ext cx="4913978" cy="103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20"/>
              </a:lnSpc>
            </a:pPr>
            <a:r>
              <a:rPr lang="en-US" sz="703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Flowchart</a:t>
            </a:r>
            <a:endParaRPr lang="en-US" sz="703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38113" y="3828449"/>
            <a:ext cx="7201200" cy="4985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315" lvl="1" indent="-307340" algn="l">
              <a:lnSpc>
                <a:spcPts val="3990"/>
              </a:lnSpc>
              <a:buFont typeface="Arial" panose="020B0604020202020204"/>
              <a:buChar char="•"/>
            </a:pPr>
            <a:r>
              <a:rPr lang="en-US" sz="28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Mulai → Input kapasitas parkir</a:t>
            </a:r>
            <a:endParaRPr lang="en-US" sz="28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15315" lvl="1" indent="-307340" algn="l">
              <a:lnSpc>
                <a:spcPts val="3990"/>
              </a:lnSpc>
              <a:buFont typeface="Arial" panose="020B0604020202020204"/>
              <a:buChar char="•"/>
            </a:pPr>
            <a:r>
              <a:rPr lang="en-US" sz="28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Tampilkan menu pilihan</a:t>
            </a:r>
            <a:endParaRPr lang="en-US" sz="28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15315" lvl="1" indent="-307340" algn="l">
              <a:lnSpc>
                <a:spcPts val="3990"/>
              </a:lnSpc>
              <a:buFont typeface="Arial" panose="020B0604020202020204"/>
              <a:buChar char="•"/>
            </a:pPr>
            <a:r>
              <a:rPr lang="en-US" sz="28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Pilih proses:</a:t>
            </a:r>
            <a:endParaRPr lang="en-US" sz="28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15315" lvl="1" indent="-307340" algn="l">
              <a:lnSpc>
                <a:spcPts val="3990"/>
              </a:lnSpc>
              <a:buFont typeface="Arial" panose="020B0604020202020204"/>
              <a:buChar char="•"/>
            </a:pPr>
            <a:r>
              <a:rPr lang="en-US" sz="28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Enqueue → kendaraan masuk</a:t>
            </a:r>
            <a:endParaRPr lang="en-US" sz="28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15315" lvl="1" indent="-307340" algn="l">
              <a:lnSpc>
                <a:spcPts val="3990"/>
              </a:lnSpc>
              <a:buFont typeface="Arial" panose="020B0604020202020204"/>
              <a:buChar char="•"/>
            </a:pPr>
            <a:r>
              <a:rPr lang="en-US" sz="28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Dequeue → kendaraan keluar &amp; hitung biaya</a:t>
            </a:r>
            <a:endParaRPr lang="en-US" sz="28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15315" lvl="1" indent="-307340" algn="l">
              <a:lnSpc>
                <a:spcPts val="3990"/>
              </a:lnSpc>
              <a:buFont typeface="Arial" panose="020B0604020202020204"/>
              <a:buChar char="•"/>
            </a:pPr>
            <a:r>
              <a:rPr lang="en-US" sz="28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Peek → lihat kendaraan depan</a:t>
            </a:r>
            <a:endParaRPr lang="en-US" sz="28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15315" lvl="1" indent="-307340" algn="l">
              <a:lnSpc>
                <a:spcPts val="3990"/>
              </a:lnSpc>
              <a:buFont typeface="Arial" panose="020B0604020202020204"/>
              <a:buChar char="•"/>
            </a:pPr>
            <a:r>
              <a:rPr lang="en-US" sz="28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Display → tampilkan semua data</a:t>
            </a:r>
            <a:endParaRPr lang="en-US" sz="28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15315" lvl="1" indent="-307340" algn="l">
              <a:lnSpc>
                <a:spcPts val="3990"/>
              </a:lnSpc>
              <a:buFont typeface="Arial" panose="020B0604020202020204"/>
              <a:buChar char="•"/>
            </a:pPr>
            <a:r>
              <a:rPr lang="en-US" sz="285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Kembali ke menu / keluar program</a:t>
            </a:r>
            <a:endParaRPr lang="en-US" sz="285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990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9240377" y="0"/>
            <a:ext cx="9047623" cy="4362486"/>
            <a:chOff x="0" y="0"/>
            <a:chExt cx="1670082" cy="8053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70083" cy="805368"/>
            </a:xfrm>
            <a:custGeom>
              <a:avLst/>
              <a:gdLst/>
              <a:ahLst/>
              <a:cxnLst/>
              <a:rect l="l" t="t" r="r" b="b"/>
              <a:pathLst>
                <a:path w="1670083" h="805368">
                  <a:moveTo>
                    <a:pt x="1670083" y="41929"/>
                  </a:moveTo>
                  <a:lnTo>
                    <a:pt x="1670083" y="763439"/>
                  </a:lnTo>
                  <a:cubicBezTo>
                    <a:pt x="1670083" y="774559"/>
                    <a:pt x="1665665" y="785224"/>
                    <a:pt x="1657802" y="793087"/>
                  </a:cubicBezTo>
                  <a:cubicBezTo>
                    <a:pt x="1649939" y="800950"/>
                    <a:pt x="1639274" y="805368"/>
                    <a:pt x="1628154" y="805368"/>
                  </a:cubicBezTo>
                  <a:lnTo>
                    <a:pt x="41929" y="805368"/>
                  </a:lnTo>
                  <a:cubicBezTo>
                    <a:pt x="30808" y="805368"/>
                    <a:pt x="20144" y="800950"/>
                    <a:pt x="12281" y="793087"/>
                  </a:cubicBezTo>
                  <a:cubicBezTo>
                    <a:pt x="4417" y="785224"/>
                    <a:pt x="0" y="774559"/>
                    <a:pt x="0" y="763439"/>
                  </a:cubicBezTo>
                  <a:lnTo>
                    <a:pt x="0" y="41929"/>
                  </a:lnTo>
                  <a:cubicBezTo>
                    <a:pt x="0" y="30808"/>
                    <a:pt x="4417" y="20144"/>
                    <a:pt x="12281" y="12281"/>
                  </a:cubicBezTo>
                  <a:cubicBezTo>
                    <a:pt x="20144" y="4417"/>
                    <a:pt x="30808" y="0"/>
                    <a:pt x="41929" y="0"/>
                  </a:cubicBezTo>
                  <a:lnTo>
                    <a:pt x="1628154" y="0"/>
                  </a:lnTo>
                  <a:cubicBezTo>
                    <a:pt x="1639274" y="0"/>
                    <a:pt x="1649939" y="4417"/>
                    <a:pt x="1657802" y="12281"/>
                  </a:cubicBezTo>
                  <a:cubicBezTo>
                    <a:pt x="1665665" y="20144"/>
                    <a:pt x="1670083" y="30808"/>
                    <a:pt x="1670083" y="4192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70082" cy="843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9917809" y="4960036"/>
            <a:ext cx="6337820" cy="4445933"/>
          </a:xfrm>
          <a:custGeom>
            <a:avLst/>
            <a:gdLst/>
            <a:ahLst/>
            <a:cxnLst/>
            <a:rect l="l" t="t" r="r" b="b"/>
            <a:pathLst>
              <a:path w="6337820" h="4445933">
                <a:moveTo>
                  <a:pt x="0" y="0"/>
                </a:moveTo>
                <a:lnTo>
                  <a:pt x="6337820" y="0"/>
                </a:lnTo>
                <a:lnTo>
                  <a:pt x="6337820" y="4445933"/>
                </a:lnTo>
                <a:lnTo>
                  <a:pt x="0" y="4445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7354" y="5143500"/>
            <a:ext cx="6397702" cy="4262469"/>
          </a:xfrm>
          <a:custGeom>
            <a:avLst/>
            <a:gdLst/>
            <a:ahLst/>
            <a:cxnLst/>
            <a:rect l="l" t="t" r="r" b="b"/>
            <a:pathLst>
              <a:path w="6397702" h="4262469">
                <a:moveTo>
                  <a:pt x="0" y="0"/>
                </a:moveTo>
                <a:lnTo>
                  <a:pt x="6397702" y="0"/>
                </a:lnTo>
                <a:lnTo>
                  <a:pt x="6397702" y="4262469"/>
                </a:lnTo>
                <a:lnTo>
                  <a:pt x="0" y="4262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36575" y="1684817"/>
            <a:ext cx="6040995" cy="381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20"/>
              </a:lnSpc>
            </a:pPr>
            <a:r>
              <a:rPr lang="en-US" sz="703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Sistem Linked List</a:t>
            </a:r>
            <a:endParaRPr lang="en-US" sz="703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7320"/>
              </a:lnSpc>
            </a:pPr>
          </a:p>
          <a:p>
            <a:pPr algn="just">
              <a:lnSpc>
                <a:spcPts val="7320"/>
              </a:lnSpc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9518344" y="653465"/>
            <a:ext cx="9257157" cy="3383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1690" lvl="1" indent="-410845" algn="just">
              <a:lnSpc>
                <a:spcPts val="5325"/>
              </a:lnSpc>
              <a:buFont typeface="Arial" panose="020B0604020202020204"/>
              <a:buChar char="•"/>
            </a:pPr>
            <a:r>
              <a:rPr lang="en-US" sz="380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Masuk → enqueue (rear)</a:t>
            </a:r>
            <a:endParaRPr lang="en-US" sz="380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821690" lvl="1" indent="-410845" algn="just">
              <a:lnSpc>
                <a:spcPts val="5325"/>
              </a:lnSpc>
              <a:buFont typeface="Arial" panose="020B0604020202020204"/>
              <a:buChar char="•"/>
            </a:pPr>
            <a:r>
              <a:rPr lang="en-US" sz="380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Keluar → dequeue (front)</a:t>
            </a:r>
            <a:endParaRPr lang="en-US" sz="380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821690" lvl="1" indent="-410845" algn="just">
              <a:lnSpc>
                <a:spcPts val="5325"/>
              </a:lnSpc>
              <a:buFont typeface="Arial" panose="020B0604020202020204"/>
              <a:buChar char="•"/>
            </a:pPr>
            <a:r>
              <a:rPr lang="en-US" sz="380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→ linked list</a:t>
            </a:r>
            <a:endParaRPr lang="en-US" sz="380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821690" lvl="1" indent="-410845" algn="just">
              <a:lnSpc>
                <a:spcPts val="5325"/>
              </a:lnSpc>
              <a:buFont typeface="Arial" panose="020B0604020202020204"/>
              <a:buChar char="•"/>
            </a:pPr>
            <a:r>
              <a:rPr lang="en-US" sz="380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Sistem → FIFO + hitung biaya</a:t>
            </a:r>
            <a:endParaRPr lang="en-US" sz="380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5325"/>
              </a:lnSpc>
              <a:spcBef>
                <a:spcPct val="0"/>
              </a:spcBef>
            </a:pPr>
          </a:p>
        </p:txBody>
      </p:sp>
      <p:sp>
        <p:nvSpPr>
          <p:cNvPr id="14" name="TextBox 14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 flipV="1">
            <a:off x="-3771684" y="10107990"/>
            <a:ext cx="12370599" cy="1799360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-2660485" y="4696212"/>
            <a:ext cx="9047623" cy="3515792"/>
            <a:chOff x="0" y="0"/>
            <a:chExt cx="1670082" cy="6490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70083" cy="649058"/>
            </a:xfrm>
            <a:custGeom>
              <a:avLst/>
              <a:gdLst/>
              <a:ahLst/>
              <a:cxnLst/>
              <a:rect l="l" t="t" r="r" b="b"/>
              <a:pathLst>
                <a:path w="1670083" h="649058">
                  <a:moveTo>
                    <a:pt x="1670083" y="41929"/>
                  </a:moveTo>
                  <a:lnTo>
                    <a:pt x="1670083" y="607129"/>
                  </a:lnTo>
                  <a:cubicBezTo>
                    <a:pt x="1670083" y="618249"/>
                    <a:pt x="1665665" y="628914"/>
                    <a:pt x="1657802" y="636777"/>
                  </a:cubicBezTo>
                  <a:cubicBezTo>
                    <a:pt x="1649939" y="644640"/>
                    <a:pt x="1639274" y="649058"/>
                    <a:pt x="1628154" y="649058"/>
                  </a:cubicBezTo>
                  <a:lnTo>
                    <a:pt x="41929" y="649058"/>
                  </a:lnTo>
                  <a:cubicBezTo>
                    <a:pt x="30808" y="649058"/>
                    <a:pt x="20144" y="644640"/>
                    <a:pt x="12281" y="636777"/>
                  </a:cubicBezTo>
                  <a:cubicBezTo>
                    <a:pt x="4417" y="628914"/>
                    <a:pt x="0" y="618249"/>
                    <a:pt x="0" y="607129"/>
                  </a:cubicBezTo>
                  <a:lnTo>
                    <a:pt x="0" y="41929"/>
                  </a:lnTo>
                  <a:cubicBezTo>
                    <a:pt x="0" y="30808"/>
                    <a:pt x="4417" y="20144"/>
                    <a:pt x="12281" y="12281"/>
                  </a:cubicBezTo>
                  <a:cubicBezTo>
                    <a:pt x="20144" y="4417"/>
                    <a:pt x="30808" y="0"/>
                    <a:pt x="41929" y="0"/>
                  </a:cubicBezTo>
                  <a:lnTo>
                    <a:pt x="1628154" y="0"/>
                  </a:lnTo>
                  <a:cubicBezTo>
                    <a:pt x="1639274" y="0"/>
                    <a:pt x="1649939" y="4417"/>
                    <a:pt x="1657802" y="12281"/>
                  </a:cubicBezTo>
                  <a:cubicBezTo>
                    <a:pt x="1665665" y="20144"/>
                    <a:pt x="1670083" y="30808"/>
                    <a:pt x="1670083" y="4192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70082" cy="687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9144000" y="1677616"/>
            <a:ext cx="7910896" cy="7313572"/>
          </a:xfrm>
          <a:custGeom>
            <a:avLst/>
            <a:gdLst/>
            <a:ahLst/>
            <a:cxnLst/>
            <a:rect l="l" t="t" r="r" b="b"/>
            <a:pathLst>
              <a:path w="7910896" h="7313572">
                <a:moveTo>
                  <a:pt x="0" y="0"/>
                </a:moveTo>
                <a:lnTo>
                  <a:pt x="7910896" y="0"/>
                </a:lnTo>
                <a:lnTo>
                  <a:pt x="7910896" y="7313572"/>
                </a:lnTo>
                <a:lnTo>
                  <a:pt x="0" y="7313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87786" y="1706191"/>
            <a:ext cx="6257816" cy="172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618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Implementasi Program</a:t>
            </a:r>
            <a:endParaRPr lang="en-US" sz="618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47118" y="5095232"/>
            <a:ext cx="5636881" cy="266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Memb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st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tur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antrian parkir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gecek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ko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disi k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ng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uh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gg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akan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ep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Queue Linked List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aga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bih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fisien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560"/>
              </a:lnSpc>
              <a:spcBef>
                <a:spcPct val="0"/>
              </a:spcBef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 flipV="1">
            <a:off x="-4277584" y="10080075"/>
            <a:ext cx="12370599" cy="1799360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-2688400" y="5143500"/>
            <a:ext cx="9047623" cy="4362486"/>
            <a:chOff x="0" y="0"/>
            <a:chExt cx="1670082" cy="8053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70083" cy="805368"/>
            </a:xfrm>
            <a:custGeom>
              <a:avLst/>
              <a:gdLst/>
              <a:ahLst/>
              <a:cxnLst/>
              <a:rect l="l" t="t" r="r" b="b"/>
              <a:pathLst>
                <a:path w="1670083" h="805368">
                  <a:moveTo>
                    <a:pt x="1670083" y="41929"/>
                  </a:moveTo>
                  <a:lnTo>
                    <a:pt x="1670083" y="763439"/>
                  </a:lnTo>
                  <a:cubicBezTo>
                    <a:pt x="1670083" y="774559"/>
                    <a:pt x="1665665" y="785224"/>
                    <a:pt x="1657802" y="793087"/>
                  </a:cubicBezTo>
                  <a:cubicBezTo>
                    <a:pt x="1649939" y="800950"/>
                    <a:pt x="1639274" y="805368"/>
                    <a:pt x="1628154" y="805368"/>
                  </a:cubicBezTo>
                  <a:lnTo>
                    <a:pt x="41929" y="805368"/>
                  </a:lnTo>
                  <a:cubicBezTo>
                    <a:pt x="30808" y="805368"/>
                    <a:pt x="20144" y="800950"/>
                    <a:pt x="12281" y="793087"/>
                  </a:cubicBezTo>
                  <a:cubicBezTo>
                    <a:pt x="4417" y="785224"/>
                    <a:pt x="0" y="774559"/>
                    <a:pt x="0" y="763439"/>
                  </a:cubicBezTo>
                  <a:lnTo>
                    <a:pt x="0" y="41929"/>
                  </a:lnTo>
                  <a:cubicBezTo>
                    <a:pt x="0" y="30808"/>
                    <a:pt x="4417" y="20144"/>
                    <a:pt x="12281" y="12281"/>
                  </a:cubicBezTo>
                  <a:cubicBezTo>
                    <a:pt x="20144" y="4417"/>
                    <a:pt x="30808" y="0"/>
                    <a:pt x="41929" y="0"/>
                  </a:cubicBezTo>
                  <a:lnTo>
                    <a:pt x="1628154" y="0"/>
                  </a:lnTo>
                  <a:cubicBezTo>
                    <a:pt x="1639274" y="0"/>
                    <a:pt x="1649939" y="4417"/>
                    <a:pt x="1657802" y="12281"/>
                  </a:cubicBezTo>
                  <a:cubicBezTo>
                    <a:pt x="1665665" y="20144"/>
                    <a:pt x="1670083" y="30808"/>
                    <a:pt x="1670083" y="4192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70082" cy="843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6675476" y="3219717"/>
            <a:ext cx="11412424" cy="4826630"/>
          </a:xfrm>
          <a:custGeom>
            <a:avLst/>
            <a:gdLst/>
            <a:ahLst/>
            <a:cxnLst/>
            <a:rect l="l" t="t" r="r" b="b"/>
            <a:pathLst>
              <a:path w="11412424" h="4826630">
                <a:moveTo>
                  <a:pt x="0" y="0"/>
                </a:moveTo>
                <a:lnTo>
                  <a:pt x="11412424" y="0"/>
                </a:lnTo>
                <a:lnTo>
                  <a:pt x="11412424" y="4826630"/>
                </a:lnTo>
                <a:lnTo>
                  <a:pt x="0" y="4826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39" r="-1074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87786" y="1706191"/>
            <a:ext cx="6257816" cy="172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618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Implementasi Program</a:t>
            </a:r>
            <a:endParaRPr lang="en-US" sz="618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22342" y="5042042"/>
            <a:ext cx="5636881" cy="4012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  <a:spcBef>
                <a:spcPct val="0"/>
              </a:spcBef>
            </a:pPr>
          </a:p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Enqueue (Masuk)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Menambahkan kendaraan ke antrian parkir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Input nomor plat kendaraan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Sistem mencatat waktu masuk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Data disimpan di posisi rear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💡 Fungsi: mengatur kendaraan yang masuk secara terurut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 flipV="1">
            <a:off x="-3914685" y="10010811"/>
            <a:ext cx="12370599" cy="1799360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1799360"/>
                </a:moveTo>
                <a:lnTo>
                  <a:pt x="12370599" y="1799360"/>
                </a:lnTo>
                <a:lnTo>
                  <a:pt x="12370599" y="0"/>
                </a:lnTo>
                <a:lnTo>
                  <a:pt x="0" y="0"/>
                </a:lnTo>
                <a:lnTo>
                  <a:pt x="0" y="1799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-2688400" y="4895814"/>
            <a:ext cx="10220065" cy="3963502"/>
            <a:chOff x="0" y="0"/>
            <a:chExt cx="1886501" cy="7317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86501" cy="731711"/>
            </a:xfrm>
            <a:custGeom>
              <a:avLst/>
              <a:gdLst/>
              <a:ahLst/>
              <a:cxnLst/>
              <a:rect l="l" t="t" r="r" b="b"/>
              <a:pathLst>
                <a:path w="1886501" h="731711">
                  <a:moveTo>
                    <a:pt x="1886501" y="37119"/>
                  </a:moveTo>
                  <a:lnTo>
                    <a:pt x="1886501" y="694592"/>
                  </a:lnTo>
                  <a:cubicBezTo>
                    <a:pt x="1886501" y="704437"/>
                    <a:pt x="1882591" y="713878"/>
                    <a:pt x="1875629" y="720839"/>
                  </a:cubicBezTo>
                  <a:cubicBezTo>
                    <a:pt x="1868668" y="727800"/>
                    <a:pt x="1859227" y="731711"/>
                    <a:pt x="1849383" y="731711"/>
                  </a:cubicBezTo>
                  <a:lnTo>
                    <a:pt x="37119" y="731711"/>
                  </a:lnTo>
                  <a:cubicBezTo>
                    <a:pt x="27274" y="731711"/>
                    <a:pt x="17833" y="727800"/>
                    <a:pt x="10872" y="720839"/>
                  </a:cubicBezTo>
                  <a:cubicBezTo>
                    <a:pt x="3911" y="713878"/>
                    <a:pt x="0" y="704437"/>
                    <a:pt x="0" y="694592"/>
                  </a:cubicBezTo>
                  <a:lnTo>
                    <a:pt x="0" y="37119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9" y="0"/>
                  </a:cubicBezTo>
                  <a:lnTo>
                    <a:pt x="1849383" y="0"/>
                  </a:lnTo>
                  <a:cubicBezTo>
                    <a:pt x="1859227" y="0"/>
                    <a:pt x="1868668" y="3911"/>
                    <a:pt x="1875629" y="10872"/>
                  </a:cubicBezTo>
                  <a:cubicBezTo>
                    <a:pt x="1882591" y="17833"/>
                    <a:pt x="1886501" y="27274"/>
                    <a:pt x="1886501" y="3711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86501" cy="769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9144000" y="1488686"/>
            <a:ext cx="7378336" cy="7769614"/>
          </a:xfrm>
          <a:custGeom>
            <a:avLst/>
            <a:gdLst/>
            <a:ahLst/>
            <a:cxnLst/>
            <a:rect l="l" t="t" r="r" b="b"/>
            <a:pathLst>
              <a:path w="7378336" h="7769614">
                <a:moveTo>
                  <a:pt x="0" y="0"/>
                </a:moveTo>
                <a:lnTo>
                  <a:pt x="7378336" y="0"/>
                </a:lnTo>
                <a:lnTo>
                  <a:pt x="7378336" y="7769614"/>
                </a:lnTo>
                <a:lnTo>
                  <a:pt x="0" y="7769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2" r="-40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87786" y="1706191"/>
            <a:ext cx="6257816" cy="172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618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Implementasi Program</a:t>
            </a:r>
            <a:endParaRPr lang="en-US" sz="618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99019" y="5294869"/>
            <a:ext cx="7032645" cy="3564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queue (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Kel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ar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)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gelu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kan kendaraan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ari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f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ron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Sistem mencatat waktu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kelu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Menghi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ung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d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ura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si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rkir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gh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tung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b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aya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rki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💡 Fungsi: me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ikan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kendaraan ke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ar 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ai FIFO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560"/>
              </a:lnSpc>
              <a:spcBef>
                <a:spcPct val="0"/>
              </a:spcBef>
            </a:pPr>
          </a:p>
        </p:txBody>
      </p:sp>
      <p:sp>
        <p:nvSpPr>
          <p:cNvPr id="18" name="TextBox 18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-2688400" y="3708921"/>
            <a:ext cx="10220065" cy="2869158"/>
            <a:chOff x="0" y="0"/>
            <a:chExt cx="1886501" cy="5296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86501" cy="529681"/>
            </a:xfrm>
            <a:custGeom>
              <a:avLst/>
              <a:gdLst/>
              <a:ahLst/>
              <a:cxnLst/>
              <a:rect l="l" t="t" r="r" b="b"/>
              <a:pathLst>
                <a:path w="1886501" h="529681">
                  <a:moveTo>
                    <a:pt x="1886501" y="37119"/>
                  </a:moveTo>
                  <a:lnTo>
                    <a:pt x="1886501" y="492563"/>
                  </a:lnTo>
                  <a:cubicBezTo>
                    <a:pt x="1886501" y="502407"/>
                    <a:pt x="1882591" y="511849"/>
                    <a:pt x="1875629" y="518810"/>
                  </a:cubicBezTo>
                  <a:cubicBezTo>
                    <a:pt x="1868668" y="525771"/>
                    <a:pt x="1859227" y="529681"/>
                    <a:pt x="1849383" y="529681"/>
                  </a:cubicBezTo>
                  <a:lnTo>
                    <a:pt x="37119" y="529681"/>
                  </a:lnTo>
                  <a:cubicBezTo>
                    <a:pt x="27274" y="529681"/>
                    <a:pt x="17833" y="525771"/>
                    <a:pt x="10872" y="518810"/>
                  </a:cubicBezTo>
                  <a:cubicBezTo>
                    <a:pt x="3911" y="511849"/>
                    <a:pt x="0" y="502407"/>
                    <a:pt x="0" y="492563"/>
                  </a:cubicBezTo>
                  <a:lnTo>
                    <a:pt x="0" y="37119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9" y="0"/>
                  </a:cubicBezTo>
                  <a:lnTo>
                    <a:pt x="1849383" y="0"/>
                  </a:lnTo>
                  <a:cubicBezTo>
                    <a:pt x="1859227" y="0"/>
                    <a:pt x="1868668" y="3911"/>
                    <a:pt x="1875629" y="10872"/>
                  </a:cubicBezTo>
                  <a:cubicBezTo>
                    <a:pt x="1882591" y="17833"/>
                    <a:pt x="1886501" y="27274"/>
                    <a:pt x="1886501" y="3711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86501" cy="567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-2688400" y="6968604"/>
            <a:ext cx="10220065" cy="3064565"/>
            <a:chOff x="0" y="0"/>
            <a:chExt cx="1886501" cy="5657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86501" cy="565756"/>
            </a:xfrm>
            <a:custGeom>
              <a:avLst/>
              <a:gdLst/>
              <a:ahLst/>
              <a:cxnLst/>
              <a:rect l="l" t="t" r="r" b="b"/>
              <a:pathLst>
                <a:path w="1886501" h="565756">
                  <a:moveTo>
                    <a:pt x="1886501" y="37119"/>
                  </a:moveTo>
                  <a:lnTo>
                    <a:pt x="1886501" y="528637"/>
                  </a:lnTo>
                  <a:cubicBezTo>
                    <a:pt x="1886501" y="538482"/>
                    <a:pt x="1882591" y="547923"/>
                    <a:pt x="1875629" y="554884"/>
                  </a:cubicBezTo>
                  <a:cubicBezTo>
                    <a:pt x="1868668" y="561845"/>
                    <a:pt x="1859227" y="565756"/>
                    <a:pt x="1849383" y="565756"/>
                  </a:cubicBezTo>
                  <a:lnTo>
                    <a:pt x="37119" y="565756"/>
                  </a:lnTo>
                  <a:cubicBezTo>
                    <a:pt x="27274" y="565756"/>
                    <a:pt x="17833" y="561845"/>
                    <a:pt x="10872" y="554884"/>
                  </a:cubicBezTo>
                  <a:cubicBezTo>
                    <a:pt x="3911" y="547923"/>
                    <a:pt x="0" y="538482"/>
                    <a:pt x="0" y="528637"/>
                  </a:cubicBezTo>
                  <a:lnTo>
                    <a:pt x="0" y="37119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9" y="0"/>
                  </a:cubicBezTo>
                  <a:lnTo>
                    <a:pt x="1849383" y="0"/>
                  </a:lnTo>
                  <a:cubicBezTo>
                    <a:pt x="1859227" y="0"/>
                    <a:pt x="1868668" y="3911"/>
                    <a:pt x="1875629" y="10872"/>
                  </a:cubicBezTo>
                  <a:cubicBezTo>
                    <a:pt x="1882591" y="17833"/>
                    <a:pt x="1886501" y="27274"/>
                    <a:pt x="1886501" y="3711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886501" cy="603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7" name="Freeform 17"/>
          <p:cNvSpPr/>
          <p:nvPr/>
        </p:nvSpPr>
        <p:spPr>
          <a:xfrm>
            <a:off x="8179665" y="2792021"/>
            <a:ext cx="9475296" cy="5708866"/>
          </a:xfrm>
          <a:custGeom>
            <a:avLst/>
            <a:gdLst/>
            <a:ahLst/>
            <a:cxnLst/>
            <a:rect l="l" t="t" r="r" b="b"/>
            <a:pathLst>
              <a:path w="9475296" h="5708866">
                <a:moveTo>
                  <a:pt x="0" y="0"/>
                </a:moveTo>
                <a:lnTo>
                  <a:pt x="9475295" y="0"/>
                </a:lnTo>
                <a:lnTo>
                  <a:pt x="9475295" y="5708866"/>
                </a:lnTo>
                <a:lnTo>
                  <a:pt x="0" y="570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22342" y="1656646"/>
            <a:ext cx="5149944" cy="141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509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Implementasi Program</a:t>
            </a:r>
            <a:endParaRPr lang="en-US" sz="509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12956" y="3908982"/>
            <a:ext cx="7032645" cy="266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ek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Menampi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kan kendaraan paling depan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idak m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enghapus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d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ata d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ri a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trian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💡 Fungsi: menget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ahui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kendaraan yang akan ke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ar berikutny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560"/>
              </a:lnSpc>
              <a:spcBef>
                <a:spcPct val="0"/>
              </a:spcBef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212956" y="7168665"/>
            <a:ext cx="7758443" cy="3116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Display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Menampi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kan seluruh kendaraan dalam parkiran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48640" lvl="1" indent="-274320" algn="l">
              <a:lnSpc>
                <a:spcPts val="3560"/>
              </a:lnSpc>
              <a:buFont typeface="Arial" panose="020B0604020202020204"/>
              <a:buChar char="•"/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enampilkan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pl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at d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an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waktu masuk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560"/>
              </a:lnSpc>
              <a:spcBef>
                <a:spcPct val="0"/>
              </a:spcBef>
            </a:pP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💡 Fungsi: melih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at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kondisi antrian secara kese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lu</a:t>
            </a:r>
            <a:r>
              <a:rPr lang="en-US" sz="254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ruhan</a:t>
            </a:r>
            <a:endParaRPr lang="en-US" sz="254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3560"/>
              </a:lnSpc>
              <a:spcBef>
                <a:spcPct val="0"/>
              </a:spcBef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8598915" y="1042987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0">
            <a:off x="8455914" y="899987"/>
            <a:ext cx="286001" cy="28600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-3205187" y="4287468"/>
            <a:ext cx="13005001" cy="3738783"/>
            <a:chOff x="0" y="0"/>
            <a:chExt cx="1967671" cy="5657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7671" cy="565756"/>
            </a:xfrm>
            <a:custGeom>
              <a:avLst/>
              <a:gdLst/>
              <a:ahLst/>
              <a:cxnLst/>
              <a:rect l="l" t="t" r="r" b="b"/>
              <a:pathLst>
                <a:path w="1967671" h="565756">
                  <a:moveTo>
                    <a:pt x="1967671" y="29170"/>
                  </a:moveTo>
                  <a:lnTo>
                    <a:pt x="1967671" y="536586"/>
                  </a:lnTo>
                  <a:cubicBezTo>
                    <a:pt x="1967671" y="552696"/>
                    <a:pt x="1954611" y="565756"/>
                    <a:pt x="1938501" y="565756"/>
                  </a:cubicBezTo>
                  <a:lnTo>
                    <a:pt x="29170" y="565756"/>
                  </a:lnTo>
                  <a:cubicBezTo>
                    <a:pt x="13060" y="565756"/>
                    <a:pt x="0" y="552696"/>
                    <a:pt x="0" y="536586"/>
                  </a:cubicBezTo>
                  <a:lnTo>
                    <a:pt x="0" y="29170"/>
                  </a:lnTo>
                  <a:cubicBezTo>
                    <a:pt x="0" y="13060"/>
                    <a:pt x="13060" y="0"/>
                    <a:pt x="29170" y="0"/>
                  </a:cubicBezTo>
                  <a:lnTo>
                    <a:pt x="1938501" y="0"/>
                  </a:lnTo>
                  <a:cubicBezTo>
                    <a:pt x="1954611" y="0"/>
                    <a:pt x="1967671" y="13060"/>
                    <a:pt x="1967671" y="29170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67671" cy="603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801718" y="1628071"/>
            <a:ext cx="4974418" cy="8290697"/>
          </a:xfrm>
          <a:custGeom>
            <a:avLst/>
            <a:gdLst/>
            <a:ahLst/>
            <a:cxnLst/>
            <a:rect l="l" t="t" r="r" b="b"/>
            <a:pathLst>
              <a:path w="4974418" h="8290697">
                <a:moveTo>
                  <a:pt x="0" y="0"/>
                </a:moveTo>
                <a:lnTo>
                  <a:pt x="4974418" y="0"/>
                </a:lnTo>
                <a:lnTo>
                  <a:pt x="4974418" y="8290697"/>
                </a:lnTo>
                <a:lnTo>
                  <a:pt x="0" y="8290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22342" y="1656646"/>
            <a:ext cx="5149944" cy="141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509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Implementasi Program</a:t>
            </a:r>
            <a:endParaRPr lang="en-US" sz="509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34480" y="4370571"/>
            <a:ext cx="9465334" cy="3520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Program Utama</a:t>
            </a:r>
            <a:endParaRPr lang="en-US" sz="31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69925" lvl="1" indent="-334645" algn="l">
              <a:lnSpc>
                <a:spcPts val="4340"/>
              </a:lnSpc>
              <a:buFont typeface="Arial" panose="020B0604020202020204"/>
              <a:buChar char="•"/>
            </a:pP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Membuat objek sistem parkir dar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cl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ass y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ang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sudah dibuat</a:t>
            </a:r>
            <a:endParaRPr lang="en-US" sz="31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69925" lvl="1" indent="-334645" algn="l">
              <a:lnSpc>
                <a:spcPts val="43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while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True: Program berjal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an terus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menerus sampai user memilih ke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lua</a:t>
            </a:r>
            <a:r>
              <a:rPr lang="en-US" sz="31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</a:t>
            </a:r>
            <a:endParaRPr lang="en-US" sz="31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340"/>
              </a:lnSpc>
              <a:spcBef>
                <a:spcPct val="0"/>
              </a:spcBef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5201900" y="-2854591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0">
            <a:off x="2427823" y="1512987"/>
            <a:ext cx="13432354" cy="9406935"/>
            <a:chOff x="0" y="0"/>
            <a:chExt cx="1670082" cy="11697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70083" cy="1169744"/>
            </a:xfrm>
            <a:custGeom>
              <a:avLst/>
              <a:gdLst/>
              <a:ahLst/>
              <a:cxnLst/>
              <a:rect l="l" t="t" r="r" b="b"/>
              <a:pathLst>
                <a:path w="1670083" h="1169744">
                  <a:moveTo>
                    <a:pt x="1670083" y="28242"/>
                  </a:moveTo>
                  <a:lnTo>
                    <a:pt x="1670083" y="1141502"/>
                  </a:lnTo>
                  <a:cubicBezTo>
                    <a:pt x="1670083" y="1148992"/>
                    <a:pt x="1667107" y="1156176"/>
                    <a:pt x="1661811" y="1161472"/>
                  </a:cubicBezTo>
                  <a:cubicBezTo>
                    <a:pt x="1656514" y="1166768"/>
                    <a:pt x="1649331" y="1169744"/>
                    <a:pt x="1641841" y="1169744"/>
                  </a:cubicBezTo>
                  <a:lnTo>
                    <a:pt x="28242" y="1169744"/>
                  </a:lnTo>
                  <a:cubicBezTo>
                    <a:pt x="20752" y="1169744"/>
                    <a:pt x="13568" y="1166768"/>
                    <a:pt x="8272" y="1161472"/>
                  </a:cubicBezTo>
                  <a:cubicBezTo>
                    <a:pt x="2975" y="1156176"/>
                    <a:pt x="0" y="1148992"/>
                    <a:pt x="0" y="1141502"/>
                  </a:cubicBezTo>
                  <a:lnTo>
                    <a:pt x="0" y="28242"/>
                  </a:lnTo>
                  <a:cubicBezTo>
                    <a:pt x="0" y="20752"/>
                    <a:pt x="2975" y="13568"/>
                    <a:pt x="8272" y="8272"/>
                  </a:cubicBezTo>
                  <a:cubicBezTo>
                    <a:pt x="13568" y="2975"/>
                    <a:pt x="20752" y="0"/>
                    <a:pt x="28242" y="0"/>
                  </a:cubicBezTo>
                  <a:lnTo>
                    <a:pt x="1641841" y="0"/>
                  </a:lnTo>
                  <a:cubicBezTo>
                    <a:pt x="1649331" y="0"/>
                    <a:pt x="1656514" y="2975"/>
                    <a:pt x="1661811" y="8272"/>
                  </a:cubicBezTo>
                  <a:cubicBezTo>
                    <a:pt x="1667107" y="13568"/>
                    <a:pt x="1670083" y="20752"/>
                    <a:pt x="1670083" y="28242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70082" cy="1207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3541061" y="2061592"/>
            <a:ext cx="5304596" cy="7936129"/>
          </a:xfrm>
          <a:custGeom>
            <a:avLst/>
            <a:gdLst/>
            <a:ahLst/>
            <a:cxnLst/>
            <a:rect l="l" t="t" r="r" b="b"/>
            <a:pathLst>
              <a:path w="5304596" h="7936129">
                <a:moveTo>
                  <a:pt x="0" y="0"/>
                </a:moveTo>
                <a:lnTo>
                  <a:pt x="5304596" y="0"/>
                </a:lnTo>
                <a:lnTo>
                  <a:pt x="5304596" y="7936129"/>
                </a:lnTo>
                <a:lnTo>
                  <a:pt x="0" y="79361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47456" b="-2701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517248" y="2061592"/>
            <a:ext cx="5013061" cy="7936129"/>
          </a:xfrm>
          <a:custGeom>
            <a:avLst/>
            <a:gdLst/>
            <a:ahLst/>
            <a:cxnLst/>
            <a:rect l="l" t="t" r="r" b="b"/>
            <a:pathLst>
              <a:path w="5013061" h="7936129">
                <a:moveTo>
                  <a:pt x="0" y="0"/>
                </a:moveTo>
                <a:lnTo>
                  <a:pt x="5013061" y="0"/>
                </a:lnTo>
                <a:lnTo>
                  <a:pt x="5013061" y="7936129"/>
                </a:lnTo>
                <a:lnTo>
                  <a:pt x="0" y="79361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628529" y="262880"/>
            <a:ext cx="7146742" cy="1038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20"/>
              </a:lnSpc>
            </a:pPr>
            <a:r>
              <a:rPr lang="en-US" sz="703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Hasil / Output</a:t>
            </a:r>
            <a:endParaRPr lang="en-US" sz="703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70D32">
                    <a:alpha val="86000"/>
                  </a:srgbClr>
                </a:gs>
                <a:gs pos="100000">
                  <a:srgbClr val="001496">
                    <a:alpha val="8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674888" y="2228588"/>
            <a:ext cx="7045104" cy="5829824"/>
          </a:xfrm>
          <a:custGeom>
            <a:avLst/>
            <a:gdLst/>
            <a:ahLst/>
            <a:cxnLst/>
            <a:rect l="l" t="t" r="r" b="b"/>
            <a:pathLst>
              <a:path w="7045104" h="5829824">
                <a:moveTo>
                  <a:pt x="0" y="0"/>
                </a:moveTo>
                <a:lnTo>
                  <a:pt x="7045104" y="0"/>
                </a:lnTo>
                <a:lnTo>
                  <a:pt x="7045104" y="5829824"/>
                </a:lnTo>
                <a:lnTo>
                  <a:pt x="0" y="5829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1079761" y="4141483"/>
            <a:ext cx="9047623" cy="3515792"/>
            <a:chOff x="0" y="0"/>
            <a:chExt cx="1670082" cy="6490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0083" cy="649058"/>
            </a:xfrm>
            <a:custGeom>
              <a:avLst/>
              <a:gdLst/>
              <a:ahLst/>
              <a:cxnLst/>
              <a:rect l="l" t="t" r="r" b="b"/>
              <a:pathLst>
                <a:path w="1670083" h="649058">
                  <a:moveTo>
                    <a:pt x="1670083" y="41929"/>
                  </a:moveTo>
                  <a:lnTo>
                    <a:pt x="1670083" y="607129"/>
                  </a:lnTo>
                  <a:cubicBezTo>
                    <a:pt x="1670083" y="618249"/>
                    <a:pt x="1665665" y="628914"/>
                    <a:pt x="1657802" y="636777"/>
                  </a:cubicBezTo>
                  <a:cubicBezTo>
                    <a:pt x="1649939" y="644640"/>
                    <a:pt x="1639274" y="649058"/>
                    <a:pt x="1628154" y="649058"/>
                  </a:cubicBezTo>
                  <a:lnTo>
                    <a:pt x="41929" y="649058"/>
                  </a:lnTo>
                  <a:cubicBezTo>
                    <a:pt x="30808" y="649058"/>
                    <a:pt x="20144" y="644640"/>
                    <a:pt x="12281" y="636777"/>
                  </a:cubicBezTo>
                  <a:cubicBezTo>
                    <a:pt x="4417" y="628914"/>
                    <a:pt x="0" y="618249"/>
                    <a:pt x="0" y="607129"/>
                  </a:cubicBezTo>
                  <a:lnTo>
                    <a:pt x="0" y="41929"/>
                  </a:lnTo>
                  <a:cubicBezTo>
                    <a:pt x="0" y="30808"/>
                    <a:pt x="4417" y="20144"/>
                    <a:pt x="12281" y="12281"/>
                  </a:cubicBezTo>
                  <a:cubicBezTo>
                    <a:pt x="20144" y="4417"/>
                    <a:pt x="30808" y="0"/>
                    <a:pt x="41929" y="0"/>
                  </a:cubicBezTo>
                  <a:lnTo>
                    <a:pt x="1628154" y="0"/>
                  </a:lnTo>
                  <a:cubicBezTo>
                    <a:pt x="1639274" y="0"/>
                    <a:pt x="1649939" y="4417"/>
                    <a:pt x="1657802" y="12281"/>
                  </a:cubicBezTo>
                  <a:cubicBezTo>
                    <a:pt x="1665665" y="20144"/>
                    <a:pt x="1670083" y="30808"/>
                    <a:pt x="1670083" y="41929"/>
                  </a:cubicBezTo>
                  <a:close/>
                </a:path>
              </a:pathLst>
            </a:custGeom>
            <a:solidFill>
              <a:srgbClr val="444963">
                <a:alpha val="63922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70082" cy="687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12994" y="4895701"/>
            <a:ext cx="8580266" cy="2331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8960" lvl="1" indent="-284480" algn="just">
              <a:lnSpc>
                <a:spcPts val="3690"/>
              </a:lnSpc>
              <a:buFont typeface="Arial" panose="020B0604020202020204"/>
              <a:buChar char="•"/>
            </a:pPr>
            <a:r>
              <a:rPr lang="en-US" sz="263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Sistem parkir berjalan efisien dengan konsep  queue Linked List</a:t>
            </a:r>
            <a:endParaRPr lang="en-US" sz="263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68960" lvl="1" indent="-284480" algn="just">
              <a:lnSpc>
                <a:spcPts val="3690"/>
              </a:lnSpc>
              <a:buFont typeface="Arial" panose="020B0604020202020204"/>
              <a:buChar char="•"/>
            </a:pPr>
            <a:r>
              <a:rPr lang="en-US" sz="263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Antrian mengikuti prinsip FIFO</a:t>
            </a:r>
            <a:endParaRPr lang="en-US" sz="263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568960" lvl="1" indent="-284480" algn="just">
              <a:lnSpc>
                <a:spcPts val="3690"/>
              </a:lnSpc>
              <a:buFont typeface="Arial" panose="020B0604020202020204"/>
              <a:buChar char="•"/>
            </a:pPr>
            <a:r>
              <a:rPr lang="en-US" sz="2635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kendaraan ditampilkan secara real-time</a:t>
            </a:r>
            <a:endParaRPr lang="en-US" sz="2635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90"/>
              </a:lnSpc>
              <a:spcBef>
                <a:spcPct val="0"/>
              </a:spcBef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1588975" y="2769042"/>
            <a:ext cx="7146742" cy="1038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20"/>
              </a:lnSpc>
            </a:pPr>
            <a:r>
              <a:rPr lang="en-US" sz="703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Kesimpulan</a:t>
            </a:r>
            <a:endParaRPr lang="en-US" sz="703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-5590449" y="9258300"/>
            <a:ext cx="15717833" cy="1905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 rot="0">
            <a:off x="9984383" y="9115299"/>
            <a:ext cx="286001" cy="28600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4DB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5201900" y="-2854591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D1FF">
                    <a:alpha val="86000"/>
                  </a:srgbClr>
                </a:gs>
                <a:gs pos="50000">
                  <a:srgbClr val="001496">
                    <a:alpha val="86000"/>
                  </a:srgbClr>
                </a:gs>
                <a:gs pos="100000">
                  <a:srgbClr val="000F70">
                    <a:alpha val="86000"/>
                  </a:srgbClr>
                </a:gs>
              </a:gsLst>
              <a:path path="circle">
                <a:fillToRect l="50000" t="50000" r="50000" b="50000"/>
              </a:path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</a:pPr>
            </a:p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722342" y="672469"/>
            <a:ext cx="530888" cy="617312"/>
          </a:xfrm>
          <a:custGeom>
            <a:avLst/>
            <a:gdLst/>
            <a:ahLst/>
            <a:cxnLst/>
            <a:rect l="l" t="t" r="r" b="b"/>
            <a:pathLst>
              <a:path w="530888" h="617312">
                <a:moveTo>
                  <a:pt x="0" y="0"/>
                </a:moveTo>
                <a:lnTo>
                  <a:pt x="530888" y="0"/>
                </a:lnTo>
                <a:lnTo>
                  <a:pt x="530888" y="617312"/>
                </a:lnTo>
                <a:lnTo>
                  <a:pt x="0" y="61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839908" y="2165933"/>
            <a:ext cx="6608184" cy="6602071"/>
          </a:xfrm>
          <a:custGeom>
            <a:avLst/>
            <a:gdLst/>
            <a:ahLst/>
            <a:cxnLst/>
            <a:rect l="l" t="t" r="r" b="b"/>
            <a:pathLst>
              <a:path w="6608184" h="6602071">
                <a:moveTo>
                  <a:pt x="0" y="0"/>
                </a:moveTo>
                <a:lnTo>
                  <a:pt x="6608184" y="0"/>
                </a:lnTo>
                <a:lnTo>
                  <a:pt x="6608184" y="6602071"/>
                </a:lnTo>
                <a:lnTo>
                  <a:pt x="0" y="66020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67843" y="3955211"/>
            <a:ext cx="8952313" cy="2195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5"/>
              </a:lnSpc>
            </a:pPr>
            <a:r>
              <a:rPr lang="en-US" sz="1022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THANK YOU</a:t>
            </a:r>
            <a:endParaRPr lang="en-US" sz="1022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ctr">
              <a:lnSpc>
                <a:spcPts val="7235"/>
              </a:lnSpc>
            </a:pPr>
            <a:r>
              <a:rPr lang="en-US" sz="4575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FOR YOUR ATTENTION</a:t>
            </a:r>
            <a:endParaRPr lang="en-US" sz="4575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029515" y="-1031595"/>
            <a:ext cx="12370599" cy="1799360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8797224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struktur data</a:t>
            </a:r>
            <a:endParaRPr lang="en-US" sz="247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511960" y="8797224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0"/>
              </a:lnSpc>
            </a:pPr>
            <a:r>
              <a:rPr lang="en-US" sz="247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program antrean parkir</a:t>
            </a:r>
            <a:endParaRPr lang="en-US" sz="247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496029" y="8806749"/>
            <a:ext cx="1274721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0"/>
              </a:lnSpc>
            </a:pPr>
            <a:r>
              <a:rPr lang="en-US" sz="2470" b="1">
                <a:solidFill>
                  <a:srgbClr val="FFFFFF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-</a:t>
            </a:r>
            <a:endParaRPr lang="en-US" sz="2470" b="1">
              <a:solidFill>
                <a:srgbClr val="FFFFFF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36575" y="691565"/>
            <a:ext cx="3402138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INFINITY TEAM</a:t>
            </a:r>
            <a:endParaRPr lang="en-US" sz="2700" b="1">
              <a:solidFill>
                <a:srgbClr val="FFFFFF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2901</Words>
  <Application>WPS Presentation</Application>
  <PresentationFormat>On-screen Show (4:3)</PresentationFormat>
  <Paragraphs>179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Poppins Bold</vt:lpstr>
      <vt:lpstr>Poppins</vt:lpstr>
      <vt:lpstr>Poppins Ultra-Bold</vt:lpstr>
      <vt:lpstr>Arial</vt:lpstr>
      <vt:lpstr>Canva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UTS STRUKTUR DATA</dc:title>
  <dc:creator/>
  <cp:lastModifiedBy>Ni made Nia paramita</cp:lastModifiedBy>
  <cp:revision>2</cp:revision>
  <dcterms:created xsi:type="dcterms:W3CDTF">2006-08-16T00:00:00Z</dcterms:created>
  <dcterms:modified xsi:type="dcterms:W3CDTF">2026-04-24T02:34:00Z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5154F4954612482EA1F8C0B8C8469F46_12</vt:lpwstr>
  </property>
</Properties>
</file>